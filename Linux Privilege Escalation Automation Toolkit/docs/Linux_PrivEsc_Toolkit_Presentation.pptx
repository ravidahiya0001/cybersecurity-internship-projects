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9144" cy="6858000"/>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800" y="0"/>
            <a:ext cx="9144" cy="6858000"/>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0" y="0"/>
            <a:ext cx="9144" cy="6858000"/>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0" y="0"/>
            <a:ext cx="9144" cy="6858000"/>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0" y="0"/>
            <a:ext cx="9144" cy="6858000"/>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0" y="0"/>
            <a:ext cx="9144" cy="6858000"/>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972800" y="0"/>
            <a:ext cx="9144" cy="6858000"/>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0"/>
            <a:ext cx="12188952" cy="9144"/>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1828800"/>
            <a:ext cx="12188952" cy="9144"/>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657600"/>
            <a:ext cx="12188952" cy="9144"/>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5486400"/>
            <a:ext cx="12188952" cy="9144"/>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0"/>
            <a:ext cx="12188952" cy="109728"/>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6748272"/>
            <a:ext cx="12188952" cy="109728"/>
          </a:xfrm>
          <a:prstGeom prst="rect">
            <a:avLst/>
          </a:prstGeom>
          <a:solidFill>
            <a:srgbClr val="00F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371600" y="1097280"/>
            <a:ext cx="9418320" cy="466344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371600" y="1097280"/>
            <a:ext cx="109728" cy="466344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371600" y="1097280"/>
            <a:ext cx="9418320" cy="109728"/>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737360" y="1371600"/>
            <a:ext cx="8961120" cy="1005840"/>
          </a:xfrm>
          <a:prstGeom prst="rect">
            <a:avLst/>
          </a:prstGeom>
          <a:noFill/>
        </p:spPr>
        <p:txBody>
          <a:bodyPr wrap="square">
            <a:spAutoFit/>
          </a:bodyPr>
          <a:lstStyle/>
          <a:p>
            <a:pPr algn="l"/>
            <a:r>
              <a:rPr sz="4200" b="1" i="0">
                <a:solidFill>
                  <a:srgbClr val="00D4FF"/>
                </a:solidFill>
              </a:rPr>
              <a:t>Linux Privilege Escalation</a:t>
            </a:r>
          </a:p>
        </p:txBody>
      </p:sp>
      <p:sp>
        <p:nvSpPr>
          <p:cNvPr id="19" name="TextBox 18"/>
          <p:cNvSpPr txBox="1"/>
          <p:nvPr/>
        </p:nvSpPr>
        <p:spPr>
          <a:xfrm>
            <a:off x="1737360" y="2286000"/>
            <a:ext cx="8961120" cy="822960"/>
          </a:xfrm>
          <a:prstGeom prst="rect">
            <a:avLst/>
          </a:prstGeom>
          <a:noFill/>
        </p:spPr>
        <p:txBody>
          <a:bodyPr wrap="square">
            <a:spAutoFit/>
          </a:bodyPr>
          <a:lstStyle/>
          <a:p>
            <a:pPr algn="l"/>
            <a:r>
              <a:rPr sz="4200" b="1" i="0">
                <a:solidFill>
                  <a:srgbClr val="FFFFFF"/>
                </a:solidFill>
              </a:rPr>
              <a:t>Automation Toolkit</a:t>
            </a:r>
          </a:p>
        </p:txBody>
      </p:sp>
      <p:sp>
        <p:nvSpPr>
          <p:cNvPr id="20" name="Rectangle 19"/>
          <p:cNvSpPr/>
          <p:nvPr/>
        </p:nvSpPr>
        <p:spPr>
          <a:xfrm>
            <a:off x="1737360" y="3154680"/>
            <a:ext cx="8686800"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737360" y="3246120"/>
            <a:ext cx="8686800" cy="457200"/>
          </a:xfrm>
          <a:prstGeom prst="rect">
            <a:avLst/>
          </a:prstGeom>
          <a:noFill/>
        </p:spPr>
        <p:txBody>
          <a:bodyPr wrap="square">
            <a:spAutoFit/>
          </a:bodyPr>
          <a:lstStyle/>
          <a:p>
            <a:pPr algn="l"/>
            <a:r>
              <a:rPr sz="1700" b="0" i="0">
                <a:solidFill>
                  <a:srgbClr val="00FFA3"/>
                </a:solidFill>
              </a:rPr>
              <a:t>Internship Project Presentation</a:t>
            </a:r>
          </a:p>
        </p:txBody>
      </p:sp>
      <p:sp>
        <p:nvSpPr>
          <p:cNvPr id="22" name="TextBox 21"/>
          <p:cNvSpPr txBox="1"/>
          <p:nvPr/>
        </p:nvSpPr>
        <p:spPr>
          <a:xfrm>
            <a:off x="1737360" y="3749039"/>
            <a:ext cx="8686800" cy="411480"/>
          </a:xfrm>
          <a:prstGeom prst="rect">
            <a:avLst/>
          </a:prstGeom>
          <a:noFill/>
        </p:spPr>
        <p:txBody>
          <a:bodyPr wrap="square">
            <a:spAutoFit/>
          </a:bodyPr>
          <a:lstStyle/>
          <a:p>
            <a:pPr algn="l"/>
            <a:r>
              <a:rPr sz="1400" b="0" i="0">
                <a:solidFill>
                  <a:srgbClr val="CCDDEE"/>
                </a:solidFill>
              </a:rPr>
              <a:t>Submitted by: Ravi  |  Organization: Unified Mentor</a:t>
            </a:r>
          </a:p>
        </p:txBody>
      </p:sp>
      <p:sp>
        <p:nvSpPr>
          <p:cNvPr id="23" name="TextBox 22"/>
          <p:cNvSpPr txBox="1"/>
          <p:nvPr/>
        </p:nvSpPr>
        <p:spPr>
          <a:xfrm>
            <a:off x="1737360" y="4160520"/>
            <a:ext cx="8686800" cy="411480"/>
          </a:xfrm>
          <a:prstGeom prst="rect">
            <a:avLst/>
          </a:prstGeom>
          <a:noFill/>
        </p:spPr>
        <p:txBody>
          <a:bodyPr wrap="square">
            <a:spAutoFit/>
          </a:bodyPr>
          <a:lstStyle/>
          <a:p>
            <a:pPr algn="l"/>
            <a:r>
              <a:rPr sz="1400" b="0" i="0">
                <a:solidFill>
                  <a:srgbClr val="CCDDEE"/>
                </a:solidFill>
              </a:rPr>
              <a:t>Course: Master of Computer Applications (MCA)  |  Year: 2026</a:t>
            </a:r>
          </a:p>
        </p:txBody>
      </p:sp>
      <p:sp>
        <p:nvSpPr>
          <p:cNvPr id="24" name="TextBox 23"/>
          <p:cNvSpPr txBox="1"/>
          <p:nvPr/>
        </p:nvSpPr>
        <p:spPr>
          <a:xfrm>
            <a:off x="1737360" y="4937760"/>
            <a:ext cx="8686800" cy="457200"/>
          </a:xfrm>
          <a:prstGeom prst="rect">
            <a:avLst/>
          </a:prstGeom>
          <a:noFill/>
        </p:spPr>
        <p:txBody>
          <a:bodyPr wrap="square">
            <a:spAutoFit/>
          </a:bodyPr>
          <a:lstStyle/>
          <a:p>
            <a:pPr algn="l"/>
            <a:r>
              <a:rPr sz="1200" b="1" i="0">
                <a:solidFill>
                  <a:srgbClr val="00D4FF"/>
                </a:solidFill>
              </a:rPr>
              <a:t>🔐 CYBERSECURITY RESEARCH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100584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91440"/>
            <a:ext cx="11731752" cy="640080"/>
          </a:xfrm>
          <a:prstGeom prst="rect">
            <a:avLst/>
          </a:prstGeom>
          <a:noFill/>
        </p:spPr>
        <p:txBody>
          <a:bodyPr wrap="square">
            <a:spAutoFit/>
          </a:bodyPr>
          <a:lstStyle/>
          <a:p>
            <a:pPr algn="l"/>
            <a:r>
              <a:rPr sz="2800" b="1" i="0">
                <a:solidFill>
                  <a:srgbClr val="FFFFFF"/>
                </a:solidFill>
              </a:rPr>
              <a:t>Introduction</a:t>
            </a:r>
          </a:p>
        </p:txBody>
      </p:sp>
      <p:sp>
        <p:nvSpPr>
          <p:cNvPr id="5" name="TextBox 4"/>
          <p:cNvSpPr txBox="1"/>
          <p:nvPr/>
        </p:nvSpPr>
        <p:spPr>
          <a:xfrm>
            <a:off x="228600" y="658368"/>
            <a:ext cx="11731752" cy="365760"/>
          </a:xfrm>
          <a:prstGeom prst="rect">
            <a:avLst/>
          </a:prstGeom>
          <a:noFill/>
        </p:spPr>
        <p:txBody>
          <a:bodyPr wrap="square">
            <a:spAutoFit/>
          </a:bodyPr>
          <a:lstStyle/>
          <a:p>
            <a:pPr algn="l"/>
            <a:r>
              <a:rPr sz="1300" b="0" i="0">
                <a:solidFill>
                  <a:srgbClr val="00D4FF"/>
                </a:solidFill>
              </a:rPr>
              <a:t>Overview of Linux Security Landscape</a:t>
            </a:r>
          </a:p>
        </p:txBody>
      </p:sp>
      <p:sp>
        <p:nvSpPr>
          <p:cNvPr id="6" name="Rectangle 5"/>
          <p:cNvSpPr/>
          <p:nvPr/>
        </p:nvSpPr>
        <p:spPr>
          <a:xfrm>
            <a:off x="0" y="1005840"/>
            <a:ext cx="12188952"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0" y="1042415"/>
            <a:ext cx="12188952" cy="5815584"/>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234440"/>
            <a:ext cx="3657600" cy="347472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234440"/>
            <a:ext cx="3657600"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371600"/>
            <a:ext cx="640080" cy="594360"/>
          </a:xfrm>
          <a:prstGeom prst="rect">
            <a:avLst/>
          </a:prstGeom>
          <a:noFill/>
        </p:spPr>
        <p:txBody>
          <a:bodyPr wrap="square">
            <a:spAutoFit/>
          </a:bodyPr>
          <a:lstStyle/>
          <a:p>
            <a:pPr algn="l"/>
            <a:r>
              <a:rPr sz="2800" b="0" i="0">
                <a:solidFill>
                  <a:srgbClr val="FFFFFF"/>
                </a:solidFill>
              </a:rPr>
              <a:t>🖥️</a:t>
            </a:r>
          </a:p>
        </p:txBody>
      </p:sp>
      <p:sp>
        <p:nvSpPr>
          <p:cNvPr id="11" name="TextBox 10"/>
          <p:cNvSpPr txBox="1"/>
          <p:nvPr/>
        </p:nvSpPr>
        <p:spPr>
          <a:xfrm>
            <a:off x="502920" y="2011680"/>
            <a:ext cx="3383280" cy="502920"/>
          </a:xfrm>
          <a:prstGeom prst="rect">
            <a:avLst/>
          </a:prstGeom>
          <a:noFill/>
        </p:spPr>
        <p:txBody>
          <a:bodyPr wrap="square">
            <a:spAutoFit/>
          </a:bodyPr>
          <a:lstStyle/>
          <a:p>
            <a:pPr algn="l"/>
            <a:r>
              <a:rPr sz="1400" b="1" i="0">
                <a:solidFill>
                  <a:srgbClr val="00D4FF"/>
                </a:solidFill>
              </a:rPr>
              <a:t>Linux in Modern Infrastructure</a:t>
            </a:r>
          </a:p>
        </p:txBody>
      </p:sp>
      <p:sp>
        <p:nvSpPr>
          <p:cNvPr id="12" name="TextBox 11"/>
          <p:cNvSpPr txBox="1"/>
          <p:nvPr/>
        </p:nvSpPr>
        <p:spPr>
          <a:xfrm>
            <a:off x="502920" y="2542032"/>
            <a:ext cx="3383280" cy="1920240"/>
          </a:xfrm>
          <a:prstGeom prst="rect">
            <a:avLst/>
          </a:prstGeom>
          <a:noFill/>
        </p:spPr>
        <p:txBody>
          <a:bodyPr wrap="square">
            <a:spAutoFit/>
          </a:bodyPr>
          <a:lstStyle/>
          <a:p>
            <a:pPr algn="l"/>
            <a:r>
              <a:rPr sz="1200" b="0" i="0">
                <a:solidFill>
                  <a:srgbClr val="CCDDEE"/>
                </a:solidFill>
              </a:rPr>
              <a:t>Widely used in servers, cloud platforms, and enterprise systems due to its stability and robust security features.</a:t>
            </a:r>
          </a:p>
        </p:txBody>
      </p:sp>
      <p:sp>
        <p:nvSpPr>
          <p:cNvPr id="13" name="Rectangle 12"/>
          <p:cNvSpPr/>
          <p:nvPr/>
        </p:nvSpPr>
        <p:spPr>
          <a:xfrm>
            <a:off x="4297680" y="1234440"/>
            <a:ext cx="3657600" cy="347472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1234440"/>
            <a:ext cx="3657600"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1371600"/>
            <a:ext cx="640080" cy="594360"/>
          </a:xfrm>
          <a:prstGeom prst="rect">
            <a:avLst/>
          </a:prstGeom>
          <a:noFill/>
        </p:spPr>
        <p:txBody>
          <a:bodyPr wrap="square">
            <a:spAutoFit/>
          </a:bodyPr>
          <a:lstStyle/>
          <a:p>
            <a:pPr algn="l"/>
            <a:r>
              <a:rPr sz="2800" b="0" i="0">
                <a:solidFill>
                  <a:srgbClr val="FFFFFF"/>
                </a:solidFill>
              </a:rPr>
              <a:t>⚠️</a:t>
            </a:r>
          </a:p>
        </p:txBody>
      </p:sp>
      <p:sp>
        <p:nvSpPr>
          <p:cNvPr id="16" name="TextBox 15"/>
          <p:cNvSpPr txBox="1"/>
          <p:nvPr/>
        </p:nvSpPr>
        <p:spPr>
          <a:xfrm>
            <a:off x="4434840" y="2011680"/>
            <a:ext cx="3383280" cy="502920"/>
          </a:xfrm>
          <a:prstGeom prst="rect">
            <a:avLst/>
          </a:prstGeom>
          <a:noFill/>
        </p:spPr>
        <p:txBody>
          <a:bodyPr wrap="square">
            <a:spAutoFit/>
          </a:bodyPr>
          <a:lstStyle/>
          <a:p>
            <a:pPr algn="l"/>
            <a:r>
              <a:rPr sz="1400" b="1" i="0">
                <a:solidFill>
                  <a:srgbClr val="00D4FF"/>
                </a:solidFill>
              </a:rPr>
              <a:t>Security Vulnerabilities</a:t>
            </a:r>
          </a:p>
        </p:txBody>
      </p:sp>
      <p:sp>
        <p:nvSpPr>
          <p:cNvPr id="17" name="TextBox 16"/>
          <p:cNvSpPr txBox="1"/>
          <p:nvPr/>
        </p:nvSpPr>
        <p:spPr>
          <a:xfrm>
            <a:off x="4434840" y="2542032"/>
            <a:ext cx="3383280" cy="1920240"/>
          </a:xfrm>
          <a:prstGeom prst="rect">
            <a:avLst/>
          </a:prstGeom>
          <a:noFill/>
        </p:spPr>
        <p:txBody>
          <a:bodyPr wrap="square">
            <a:spAutoFit/>
          </a:bodyPr>
          <a:lstStyle/>
          <a:p>
            <a:pPr algn="l"/>
            <a:r>
              <a:rPr sz="1200" b="0" i="0">
                <a:solidFill>
                  <a:srgbClr val="CCDDEE"/>
                </a:solidFill>
              </a:rPr>
              <a:t>Improper configuration and weak permissions introduce critical security vulnerabilities in otherwise secure systems.</a:t>
            </a:r>
          </a:p>
        </p:txBody>
      </p:sp>
      <p:sp>
        <p:nvSpPr>
          <p:cNvPr id="18" name="Rectangle 17"/>
          <p:cNvSpPr/>
          <p:nvPr/>
        </p:nvSpPr>
        <p:spPr>
          <a:xfrm>
            <a:off x="8229600" y="1234440"/>
            <a:ext cx="3657600" cy="347472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0" y="1234440"/>
            <a:ext cx="3657600"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66760" y="1371600"/>
            <a:ext cx="640080" cy="594360"/>
          </a:xfrm>
          <a:prstGeom prst="rect">
            <a:avLst/>
          </a:prstGeom>
          <a:noFill/>
        </p:spPr>
        <p:txBody>
          <a:bodyPr wrap="square">
            <a:spAutoFit/>
          </a:bodyPr>
          <a:lstStyle/>
          <a:p>
            <a:pPr algn="l"/>
            <a:r>
              <a:rPr sz="2800" b="0" i="0">
                <a:solidFill>
                  <a:srgbClr val="FFFFFF"/>
                </a:solidFill>
              </a:rPr>
              <a:t>🔓</a:t>
            </a:r>
          </a:p>
        </p:txBody>
      </p:sp>
      <p:sp>
        <p:nvSpPr>
          <p:cNvPr id="21" name="TextBox 20"/>
          <p:cNvSpPr txBox="1"/>
          <p:nvPr/>
        </p:nvSpPr>
        <p:spPr>
          <a:xfrm>
            <a:off x="8366760" y="2011680"/>
            <a:ext cx="3383280" cy="502920"/>
          </a:xfrm>
          <a:prstGeom prst="rect">
            <a:avLst/>
          </a:prstGeom>
          <a:noFill/>
        </p:spPr>
        <p:txBody>
          <a:bodyPr wrap="square">
            <a:spAutoFit/>
          </a:bodyPr>
          <a:lstStyle/>
          <a:p>
            <a:pPr algn="l"/>
            <a:r>
              <a:rPr sz="1400" b="1" i="0">
                <a:solidFill>
                  <a:srgbClr val="00D4FF"/>
                </a:solidFill>
              </a:rPr>
              <a:t>Privilege Escalation Threat</a:t>
            </a:r>
          </a:p>
        </p:txBody>
      </p:sp>
      <p:sp>
        <p:nvSpPr>
          <p:cNvPr id="22" name="TextBox 21"/>
          <p:cNvSpPr txBox="1"/>
          <p:nvPr/>
        </p:nvSpPr>
        <p:spPr>
          <a:xfrm>
            <a:off x="8366760" y="2542032"/>
            <a:ext cx="3383280" cy="1920240"/>
          </a:xfrm>
          <a:prstGeom prst="rect">
            <a:avLst/>
          </a:prstGeom>
          <a:noFill/>
        </p:spPr>
        <p:txBody>
          <a:bodyPr wrap="square">
            <a:spAutoFit/>
          </a:bodyPr>
          <a:lstStyle/>
          <a:p>
            <a:pPr algn="l"/>
            <a:r>
              <a:rPr sz="1200" b="0" i="0">
                <a:solidFill>
                  <a:srgbClr val="CCDDEE"/>
                </a:solidFill>
              </a:rPr>
              <a:t>A normal user gaining unauthorized root access is one of the most critical threats facing Linux systems today.</a:t>
            </a:r>
          </a:p>
        </p:txBody>
      </p:sp>
      <p:sp>
        <p:nvSpPr>
          <p:cNvPr id="23" name="TextBox 22"/>
          <p:cNvSpPr txBox="1"/>
          <p:nvPr/>
        </p:nvSpPr>
        <p:spPr>
          <a:xfrm>
            <a:off x="365760" y="4892040"/>
            <a:ext cx="11430000" cy="548640"/>
          </a:xfrm>
          <a:prstGeom prst="rect">
            <a:avLst/>
          </a:prstGeom>
          <a:noFill/>
        </p:spPr>
        <p:txBody>
          <a:bodyPr wrap="square">
            <a:spAutoFit/>
          </a:bodyPr>
          <a:lstStyle/>
          <a:p>
            <a:pPr algn="ctr"/>
            <a:r>
              <a:rPr sz="1400" b="1" i="0">
                <a:solidFill>
                  <a:srgbClr val="00FFA3"/>
                </a:solidFill>
              </a:rPr>
              <a:t>This project focuses on developing an automated toolkit to detect such vulnerabilities.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100584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91440"/>
            <a:ext cx="11731752" cy="640080"/>
          </a:xfrm>
          <a:prstGeom prst="rect">
            <a:avLst/>
          </a:prstGeom>
          <a:noFill/>
        </p:spPr>
        <p:txBody>
          <a:bodyPr wrap="square">
            <a:spAutoFit/>
          </a:bodyPr>
          <a:lstStyle/>
          <a:p>
            <a:pPr algn="l"/>
            <a:r>
              <a:rPr sz="2800" b="1" i="0">
                <a:solidFill>
                  <a:srgbClr val="FFFFFF"/>
                </a:solidFill>
              </a:rPr>
              <a:t>Problem Statement</a:t>
            </a:r>
          </a:p>
        </p:txBody>
      </p:sp>
      <p:sp>
        <p:nvSpPr>
          <p:cNvPr id="5" name="TextBox 4"/>
          <p:cNvSpPr txBox="1"/>
          <p:nvPr/>
        </p:nvSpPr>
        <p:spPr>
          <a:xfrm>
            <a:off x="228600" y="658368"/>
            <a:ext cx="11731752" cy="365760"/>
          </a:xfrm>
          <a:prstGeom prst="rect">
            <a:avLst/>
          </a:prstGeom>
          <a:noFill/>
        </p:spPr>
        <p:txBody>
          <a:bodyPr wrap="square">
            <a:spAutoFit/>
          </a:bodyPr>
          <a:lstStyle/>
          <a:p>
            <a:pPr algn="l"/>
            <a:r>
              <a:rPr sz="1300" b="0" i="0">
                <a:solidFill>
                  <a:srgbClr val="00D4FF"/>
                </a:solidFill>
              </a:rPr>
              <a:t>Why Manual Auditing Falls Short</a:t>
            </a:r>
          </a:p>
        </p:txBody>
      </p:sp>
      <p:sp>
        <p:nvSpPr>
          <p:cNvPr id="6" name="Rectangle 5"/>
          <p:cNvSpPr/>
          <p:nvPr/>
        </p:nvSpPr>
        <p:spPr>
          <a:xfrm>
            <a:off x="0" y="1005840"/>
            <a:ext cx="12188952"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188720"/>
            <a:ext cx="5303520" cy="457200"/>
          </a:xfrm>
          <a:prstGeom prst="rect">
            <a:avLst/>
          </a:prstGeom>
          <a:noFill/>
        </p:spPr>
        <p:txBody>
          <a:bodyPr wrap="square">
            <a:spAutoFit/>
          </a:bodyPr>
          <a:lstStyle/>
          <a:p>
            <a:pPr algn="l"/>
            <a:r>
              <a:rPr sz="1600" b="1" i="0">
                <a:solidFill>
                  <a:srgbClr val="00D4FF"/>
                </a:solidFill>
              </a:rPr>
              <a:t>The Challenge</a:t>
            </a:r>
          </a:p>
        </p:txBody>
      </p:sp>
      <p:sp>
        <p:nvSpPr>
          <p:cNvPr id="8" name="TextBox 7"/>
          <p:cNvSpPr txBox="1"/>
          <p:nvPr/>
        </p:nvSpPr>
        <p:spPr>
          <a:xfrm>
            <a:off x="365760" y="1691640"/>
            <a:ext cx="5303520" cy="1828800"/>
          </a:xfrm>
          <a:prstGeom prst="rect">
            <a:avLst/>
          </a:prstGeom>
          <a:noFill/>
        </p:spPr>
        <p:txBody>
          <a:bodyPr wrap="square">
            <a:spAutoFit/>
          </a:bodyPr>
          <a:lstStyle/>
          <a:p>
            <a:pPr algn="l"/>
            <a:r>
              <a:rPr sz="1300">
                <a:solidFill>
                  <a:srgbClr val="CCDDEE"/>
                </a:solidFill>
              </a:rPr>
              <a:t>• Manual security auditing is difficult and time-consuming</a:t>
            </a:r>
          </a:p>
          <a:p>
            <a:pPr algn="l"/>
            <a:r>
              <a:rPr sz="1300">
                <a:solidFill>
                  <a:srgbClr val="CCDDEE"/>
                </a:solidFill>
              </a:rPr>
              <a:t>• System administrators often miss critical misconfigurations</a:t>
            </a:r>
          </a:p>
          <a:p>
            <a:pPr algn="l"/>
            <a:r>
              <a:rPr sz="1300">
                <a:solidFill>
                  <a:srgbClr val="CCDDEE"/>
                </a:solidFill>
              </a:rPr>
              <a:t>• Attackers can exploit these gaps to gain root access</a:t>
            </a:r>
          </a:p>
        </p:txBody>
      </p:sp>
      <p:sp>
        <p:nvSpPr>
          <p:cNvPr id="9" name="TextBox 8"/>
          <p:cNvSpPr txBox="1"/>
          <p:nvPr/>
        </p:nvSpPr>
        <p:spPr>
          <a:xfrm>
            <a:off x="6400800" y="1188720"/>
            <a:ext cx="5486400" cy="457200"/>
          </a:xfrm>
          <a:prstGeom prst="rect">
            <a:avLst/>
          </a:prstGeom>
          <a:noFill/>
        </p:spPr>
        <p:txBody>
          <a:bodyPr wrap="square">
            <a:spAutoFit/>
          </a:bodyPr>
          <a:lstStyle/>
          <a:p>
            <a:pPr algn="l"/>
            <a:r>
              <a:rPr sz="1600" b="1" i="0">
                <a:solidFill>
                  <a:srgbClr val="00D4FF"/>
                </a:solidFill>
              </a:rPr>
              <a:t>Common Vulnerabilities Missed</a:t>
            </a:r>
          </a:p>
        </p:txBody>
      </p:sp>
      <p:sp>
        <p:nvSpPr>
          <p:cNvPr id="10" name="Rectangle 9"/>
          <p:cNvSpPr/>
          <p:nvPr/>
        </p:nvSpPr>
        <p:spPr>
          <a:xfrm>
            <a:off x="6400800" y="1691640"/>
            <a:ext cx="5303520" cy="658368"/>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00800" y="1691640"/>
            <a:ext cx="73152" cy="658368"/>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0" y="1728216"/>
            <a:ext cx="3200400" cy="320040"/>
          </a:xfrm>
          <a:prstGeom prst="rect">
            <a:avLst/>
          </a:prstGeom>
          <a:noFill/>
        </p:spPr>
        <p:txBody>
          <a:bodyPr wrap="square">
            <a:spAutoFit/>
          </a:bodyPr>
          <a:lstStyle/>
          <a:p>
            <a:pPr algn="l"/>
            <a:r>
              <a:rPr sz="1200" b="1" i="0">
                <a:solidFill>
                  <a:srgbClr val="FFFFFF"/>
                </a:solidFill>
              </a:rPr>
              <a:t>SUID Binaries</a:t>
            </a:r>
          </a:p>
        </p:txBody>
      </p:sp>
      <p:sp>
        <p:nvSpPr>
          <p:cNvPr id="13" name="TextBox 12"/>
          <p:cNvSpPr txBox="1"/>
          <p:nvPr/>
        </p:nvSpPr>
        <p:spPr>
          <a:xfrm>
            <a:off x="6583680" y="2020824"/>
            <a:ext cx="5029200" cy="320040"/>
          </a:xfrm>
          <a:prstGeom prst="rect">
            <a:avLst/>
          </a:prstGeom>
          <a:noFill/>
        </p:spPr>
        <p:txBody>
          <a:bodyPr wrap="square">
            <a:spAutoFit/>
          </a:bodyPr>
          <a:lstStyle/>
          <a:p>
            <a:pPr algn="l"/>
            <a:r>
              <a:rPr sz="1000" b="0" i="0">
                <a:solidFill>
                  <a:srgbClr val="88AACC"/>
                </a:solidFill>
              </a:rPr>
              <a:t>Programs running with elevated privileges</a:t>
            </a:r>
          </a:p>
        </p:txBody>
      </p:sp>
      <p:sp>
        <p:nvSpPr>
          <p:cNvPr id="14" name="Rectangle 13"/>
          <p:cNvSpPr/>
          <p:nvPr/>
        </p:nvSpPr>
        <p:spPr>
          <a:xfrm>
            <a:off x="6400800" y="2468880"/>
            <a:ext cx="5303520" cy="658368"/>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2468880"/>
            <a:ext cx="73152" cy="658368"/>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0" y="2505456"/>
            <a:ext cx="3200400" cy="320040"/>
          </a:xfrm>
          <a:prstGeom prst="rect">
            <a:avLst/>
          </a:prstGeom>
          <a:noFill/>
        </p:spPr>
        <p:txBody>
          <a:bodyPr wrap="square">
            <a:spAutoFit/>
          </a:bodyPr>
          <a:lstStyle/>
          <a:p>
            <a:pPr algn="l"/>
            <a:r>
              <a:rPr sz="1200" b="1" i="0">
                <a:solidFill>
                  <a:srgbClr val="FFFFFF"/>
                </a:solidFill>
              </a:rPr>
              <a:t>Weak File Permissions</a:t>
            </a:r>
          </a:p>
        </p:txBody>
      </p:sp>
      <p:sp>
        <p:nvSpPr>
          <p:cNvPr id="17" name="TextBox 16"/>
          <p:cNvSpPr txBox="1"/>
          <p:nvPr/>
        </p:nvSpPr>
        <p:spPr>
          <a:xfrm>
            <a:off x="6583680" y="2798064"/>
            <a:ext cx="5029200" cy="320040"/>
          </a:xfrm>
          <a:prstGeom prst="rect">
            <a:avLst/>
          </a:prstGeom>
          <a:noFill/>
        </p:spPr>
        <p:txBody>
          <a:bodyPr wrap="square">
            <a:spAutoFit/>
          </a:bodyPr>
          <a:lstStyle/>
          <a:p>
            <a:pPr algn="l"/>
            <a:r>
              <a:rPr sz="1000" b="0" i="0">
                <a:solidFill>
                  <a:srgbClr val="88AACC"/>
                </a:solidFill>
              </a:rPr>
              <a:t>Files accessible by unauthorized users</a:t>
            </a:r>
          </a:p>
        </p:txBody>
      </p:sp>
      <p:sp>
        <p:nvSpPr>
          <p:cNvPr id="18" name="Rectangle 17"/>
          <p:cNvSpPr/>
          <p:nvPr/>
        </p:nvSpPr>
        <p:spPr>
          <a:xfrm>
            <a:off x="6400800" y="3246120"/>
            <a:ext cx="5303520" cy="658368"/>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400800" y="3246120"/>
            <a:ext cx="73152" cy="65836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0" y="3282696"/>
            <a:ext cx="3200400" cy="320040"/>
          </a:xfrm>
          <a:prstGeom prst="rect">
            <a:avLst/>
          </a:prstGeom>
          <a:noFill/>
        </p:spPr>
        <p:txBody>
          <a:bodyPr wrap="square">
            <a:spAutoFit/>
          </a:bodyPr>
          <a:lstStyle/>
          <a:p>
            <a:pPr algn="l"/>
            <a:r>
              <a:rPr sz="1200" b="1" i="0">
                <a:solidFill>
                  <a:srgbClr val="FFFFFF"/>
                </a:solidFill>
              </a:rPr>
              <a:t>Insecure Cron Jobs</a:t>
            </a:r>
          </a:p>
        </p:txBody>
      </p:sp>
      <p:sp>
        <p:nvSpPr>
          <p:cNvPr id="21" name="TextBox 20"/>
          <p:cNvSpPr txBox="1"/>
          <p:nvPr/>
        </p:nvSpPr>
        <p:spPr>
          <a:xfrm>
            <a:off x="6583680" y="3575303"/>
            <a:ext cx="5029200" cy="320040"/>
          </a:xfrm>
          <a:prstGeom prst="rect">
            <a:avLst/>
          </a:prstGeom>
          <a:noFill/>
        </p:spPr>
        <p:txBody>
          <a:bodyPr wrap="square">
            <a:spAutoFit/>
          </a:bodyPr>
          <a:lstStyle/>
          <a:p>
            <a:pPr algn="l"/>
            <a:r>
              <a:rPr sz="1000" b="0" i="0">
                <a:solidFill>
                  <a:srgbClr val="88AACC"/>
                </a:solidFill>
              </a:rPr>
              <a:t>Scheduled tasks with improper configuration</a:t>
            </a:r>
          </a:p>
        </p:txBody>
      </p:sp>
      <p:sp>
        <p:nvSpPr>
          <p:cNvPr id="22" name="Rectangle 21"/>
          <p:cNvSpPr/>
          <p:nvPr/>
        </p:nvSpPr>
        <p:spPr>
          <a:xfrm>
            <a:off x="6400800" y="4023360"/>
            <a:ext cx="5303520" cy="658368"/>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00800" y="4023360"/>
            <a:ext cx="73152" cy="65836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0" y="4059936"/>
            <a:ext cx="3200400" cy="320040"/>
          </a:xfrm>
          <a:prstGeom prst="rect">
            <a:avLst/>
          </a:prstGeom>
          <a:noFill/>
        </p:spPr>
        <p:txBody>
          <a:bodyPr wrap="square">
            <a:spAutoFit/>
          </a:bodyPr>
          <a:lstStyle/>
          <a:p>
            <a:pPr algn="l"/>
            <a:r>
              <a:rPr sz="1200" b="1" i="0">
                <a:solidFill>
                  <a:srgbClr val="FFFFFF"/>
                </a:solidFill>
              </a:rPr>
              <a:t>Incorrect Sudo Rules</a:t>
            </a:r>
          </a:p>
        </p:txBody>
      </p:sp>
      <p:sp>
        <p:nvSpPr>
          <p:cNvPr id="25" name="TextBox 24"/>
          <p:cNvSpPr txBox="1"/>
          <p:nvPr/>
        </p:nvSpPr>
        <p:spPr>
          <a:xfrm>
            <a:off x="6583680" y="4352544"/>
            <a:ext cx="5029200" cy="320040"/>
          </a:xfrm>
          <a:prstGeom prst="rect">
            <a:avLst/>
          </a:prstGeom>
          <a:noFill/>
        </p:spPr>
        <p:txBody>
          <a:bodyPr wrap="square">
            <a:spAutoFit/>
          </a:bodyPr>
          <a:lstStyle/>
          <a:p>
            <a:pPr algn="l"/>
            <a:r>
              <a:rPr sz="1000" b="0" i="0">
                <a:solidFill>
                  <a:srgbClr val="88AACC"/>
                </a:solidFill>
              </a:rPr>
              <a:t>Excessive command execution permissions</a:t>
            </a:r>
          </a:p>
        </p:txBody>
      </p:sp>
      <p:sp>
        <p:nvSpPr>
          <p:cNvPr id="26" name="Rectangle 25"/>
          <p:cNvSpPr/>
          <p:nvPr/>
        </p:nvSpPr>
        <p:spPr>
          <a:xfrm>
            <a:off x="6400800" y="4800600"/>
            <a:ext cx="5303520" cy="658368"/>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400800" y="4800600"/>
            <a:ext cx="73152" cy="658368"/>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83680" y="4837176"/>
            <a:ext cx="3200400" cy="320040"/>
          </a:xfrm>
          <a:prstGeom prst="rect">
            <a:avLst/>
          </a:prstGeom>
          <a:noFill/>
        </p:spPr>
        <p:txBody>
          <a:bodyPr wrap="square">
            <a:spAutoFit/>
          </a:bodyPr>
          <a:lstStyle/>
          <a:p>
            <a:pPr algn="l"/>
            <a:r>
              <a:rPr sz="1200" b="1" i="0">
                <a:solidFill>
                  <a:srgbClr val="FFFFFF"/>
                </a:solidFill>
              </a:rPr>
              <a:t>Outdated Kernels</a:t>
            </a:r>
          </a:p>
        </p:txBody>
      </p:sp>
      <p:sp>
        <p:nvSpPr>
          <p:cNvPr id="29" name="TextBox 28"/>
          <p:cNvSpPr txBox="1"/>
          <p:nvPr/>
        </p:nvSpPr>
        <p:spPr>
          <a:xfrm>
            <a:off x="6583680" y="5129784"/>
            <a:ext cx="5029200" cy="320040"/>
          </a:xfrm>
          <a:prstGeom prst="rect">
            <a:avLst/>
          </a:prstGeom>
          <a:noFill/>
        </p:spPr>
        <p:txBody>
          <a:bodyPr wrap="square">
            <a:spAutoFit/>
          </a:bodyPr>
          <a:lstStyle/>
          <a:p>
            <a:pPr algn="l"/>
            <a:r>
              <a:rPr sz="1000" b="0" i="0">
                <a:solidFill>
                  <a:srgbClr val="88AACC"/>
                </a:solidFill>
              </a:rPr>
              <a:t>Known CVEs waiting to be exploited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100584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91440"/>
            <a:ext cx="11731752" cy="640080"/>
          </a:xfrm>
          <a:prstGeom prst="rect">
            <a:avLst/>
          </a:prstGeom>
          <a:noFill/>
        </p:spPr>
        <p:txBody>
          <a:bodyPr wrap="square">
            <a:spAutoFit/>
          </a:bodyPr>
          <a:lstStyle/>
          <a:p>
            <a:pPr algn="l"/>
            <a:r>
              <a:rPr sz="2800" b="1" i="0">
                <a:solidFill>
                  <a:srgbClr val="FFFFFF"/>
                </a:solidFill>
              </a:rPr>
              <a:t>Project Objectives</a:t>
            </a:r>
          </a:p>
        </p:txBody>
      </p:sp>
      <p:sp>
        <p:nvSpPr>
          <p:cNvPr id="5" name="TextBox 4"/>
          <p:cNvSpPr txBox="1"/>
          <p:nvPr/>
        </p:nvSpPr>
        <p:spPr>
          <a:xfrm>
            <a:off x="228600" y="658368"/>
            <a:ext cx="11731752" cy="365760"/>
          </a:xfrm>
          <a:prstGeom prst="rect">
            <a:avLst/>
          </a:prstGeom>
          <a:noFill/>
        </p:spPr>
        <p:txBody>
          <a:bodyPr wrap="square">
            <a:spAutoFit/>
          </a:bodyPr>
          <a:lstStyle/>
          <a:p>
            <a:pPr algn="l"/>
            <a:r>
              <a:rPr sz="1300" b="0" i="0">
                <a:solidFill>
                  <a:srgbClr val="00D4FF"/>
                </a:solidFill>
              </a:rPr>
              <a:t>Goals &amp; Deliverables</a:t>
            </a:r>
          </a:p>
        </p:txBody>
      </p:sp>
      <p:sp>
        <p:nvSpPr>
          <p:cNvPr id="6" name="Rectangle 5"/>
          <p:cNvSpPr/>
          <p:nvPr/>
        </p:nvSpPr>
        <p:spPr>
          <a:xfrm>
            <a:off x="0" y="1005840"/>
            <a:ext cx="12188952"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34440"/>
            <a:ext cx="3657600" cy="20116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234440"/>
            <a:ext cx="3657600"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371600"/>
            <a:ext cx="731520" cy="548640"/>
          </a:xfrm>
          <a:prstGeom prst="rect">
            <a:avLst/>
          </a:prstGeom>
          <a:noFill/>
        </p:spPr>
        <p:txBody>
          <a:bodyPr wrap="square">
            <a:spAutoFit/>
          </a:bodyPr>
          <a:lstStyle/>
          <a:p>
            <a:pPr algn="l"/>
            <a:r>
              <a:rPr sz="2400" b="1" i="0">
                <a:solidFill>
                  <a:srgbClr val="00D4FF"/>
                </a:solidFill>
              </a:rPr>
              <a:t>01</a:t>
            </a:r>
          </a:p>
        </p:txBody>
      </p:sp>
      <p:sp>
        <p:nvSpPr>
          <p:cNvPr id="10" name="TextBox 9"/>
          <p:cNvSpPr txBox="1"/>
          <p:nvPr/>
        </p:nvSpPr>
        <p:spPr>
          <a:xfrm>
            <a:off x="502920" y="1920240"/>
            <a:ext cx="3383280" cy="411480"/>
          </a:xfrm>
          <a:prstGeom prst="rect">
            <a:avLst/>
          </a:prstGeom>
          <a:noFill/>
        </p:spPr>
        <p:txBody>
          <a:bodyPr wrap="square">
            <a:spAutoFit/>
          </a:bodyPr>
          <a:lstStyle/>
          <a:p>
            <a:pPr algn="l"/>
            <a:r>
              <a:rPr sz="1300" b="1" i="0">
                <a:solidFill>
                  <a:srgbClr val="FFFFFF"/>
                </a:solidFill>
              </a:rPr>
              <a:t>Automated Auditing</a:t>
            </a:r>
          </a:p>
        </p:txBody>
      </p:sp>
      <p:sp>
        <p:nvSpPr>
          <p:cNvPr id="11" name="TextBox 10"/>
          <p:cNvSpPr txBox="1"/>
          <p:nvPr/>
        </p:nvSpPr>
        <p:spPr>
          <a:xfrm>
            <a:off x="502920" y="2313432"/>
            <a:ext cx="3383280" cy="822960"/>
          </a:xfrm>
          <a:prstGeom prst="rect">
            <a:avLst/>
          </a:prstGeom>
          <a:noFill/>
        </p:spPr>
        <p:txBody>
          <a:bodyPr wrap="square">
            <a:spAutoFit/>
          </a:bodyPr>
          <a:lstStyle/>
          <a:p>
            <a:pPr algn="l"/>
            <a:r>
              <a:rPr sz="1100" b="0" i="0">
                <a:solidFill>
                  <a:srgbClr val="88AACC"/>
                </a:solidFill>
              </a:rPr>
              <a:t>Develop a fully automated security auditing toolkit for Linux systems</a:t>
            </a:r>
          </a:p>
        </p:txBody>
      </p:sp>
      <p:sp>
        <p:nvSpPr>
          <p:cNvPr id="12" name="Rectangle 11"/>
          <p:cNvSpPr/>
          <p:nvPr/>
        </p:nvSpPr>
        <p:spPr>
          <a:xfrm>
            <a:off x="4297680" y="1234440"/>
            <a:ext cx="3657600" cy="20116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234440"/>
            <a:ext cx="3657600"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1371600"/>
            <a:ext cx="731520" cy="548640"/>
          </a:xfrm>
          <a:prstGeom prst="rect">
            <a:avLst/>
          </a:prstGeom>
          <a:noFill/>
        </p:spPr>
        <p:txBody>
          <a:bodyPr wrap="square">
            <a:spAutoFit/>
          </a:bodyPr>
          <a:lstStyle/>
          <a:p>
            <a:pPr algn="l"/>
            <a:r>
              <a:rPr sz="2400" b="1" i="0">
                <a:solidFill>
                  <a:srgbClr val="00D4FF"/>
                </a:solidFill>
              </a:rPr>
              <a:t>02</a:t>
            </a:r>
          </a:p>
        </p:txBody>
      </p:sp>
      <p:sp>
        <p:nvSpPr>
          <p:cNvPr id="15" name="TextBox 14"/>
          <p:cNvSpPr txBox="1"/>
          <p:nvPr/>
        </p:nvSpPr>
        <p:spPr>
          <a:xfrm>
            <a:off x="4434840" y="1920240"/>
            <a:ext cx="3383280" cy="411480"/>
          </a:xfrm>
          <a:prstGeom prst="rect">
            <a:avLst/>
          </a:prstGeom>
          <a:noFill/>
        </p:spPr>
        <p:txBody>
          <a:bodyPr wrap="square">
            <a:spAutoFit/>
          </a:bodyPr>
          <a:lstStyle/>
          <a:p>
            <a:pPr algn="l"/>
            <a:r>
              <a:rPr sz="1300" b="1" i="0">
                <a:solidFill>
                  <a:srgbClr val="FFFFFF"/>
                </a:solidFill>
              </a:rPr>
              <a:t>Vulnerability Detection</a:t>
            </a:r>
          </a:p>
        </p:txBody>
      </p:sp>
      <p:sp>
        <p:nvSpPr>
          <p:cNvPr id="16" name="TextBox 15"/>
          <p:cNvSpPr txBox="1"/>
          <p:nvPr/>
        </p:nvSpPr>
        <p:spPr>
          <a:xfrm>
            <a:off x="4434840" y="2313432"/>
            <a:ext cx="3383280" cy="822960"/>
          </a:xfrm>
          <a:prstGeom prst="rect">
            <a:avLst/>
          </a:prstGeom>
          <a:noFill/>
        </p:spPr>
        <p:txBody>
          <a:bodyPr wrap="square">
            <a:spAutoFit/>
          </a:bodyPr>
          <a:lstStyle/>
          <a:p>
            <a:pPr algn="l"/>
            <a:r>
              <a:rPr sz="1100" b="0" i="0">
                <a:solidFill>
                  <a:srgbClr val="88AACC"/>
                </a:solidFill>
              </a:rPr>
              <a:t>Detect and identify Linux privilege escalation vulnerabilities</a:t>
            </a:r>
          </a:p>
        </p:txBody>
      </p:sp>
      <p:sp>
        <p:nvSpPr>
          <p:cNvPr id="17" name="Rectangle 16"/>
          <p:cNvSpPr/>
          <p:nvPr/>
        </p:nvSpPr>
        <p:spPr>
          <a:xfrm>
            <a:off x="8229600" y="1234440"/>
            <a:ext cx="3657600" cy="20116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9600" y="1234440"/>
            <a:ext cx="3657600"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1371600"/>
            <a:ext cx="731520" cy="548640"/>
          </a:xfrm>
          <a:prstGeom prst="rect">
            <a:avLst/>
          </a:prstGeom>
          <a:noFill/>
        </p:spPr>
        <p:txBody>
          <a:bodyPr wrap="square">
            <a:spAutoFit/>
          </a:bodyPr>
          <a:lstStyle/>
          <a:p>
            <a:pPr algn="l"/>
            <a:r>
              <a:rPr sz="2400" b="1" i="0">
                <a:solidFill>
                  <a:srgbClr val="00D4FF"/>
                </a:solidFill>
              </a:rPr>
              <a:t>03</a:t>
            </a:r>
          </a:p>
        </p:txBody>
      </p:sp>
      <p:sp>
        <p:nvSpPr>
          <p:cNvPr id="20" name="TextBox 19"/>
          <p:cNvSpPr txBox="1"/>
          <p:nvPr/>
        </p:nvSpPr>
        <p:spPr>
          <a:xfrm>
            <a:off x="8366760" y="1920240"/>
            <a:ext cx="3383280" cy="411480"/>
          </a:xfrm>
          <a:prstGeom prst="rect">
            <a:avLst/>
          </a:prstGeom>
          <a:noFill/>
        </p:spPr>
        <p:txBody>
          <a:bodyPr wrap="square">
            <a:spAutoFit/>
          </a:bodyPr>
          <a:lstStyle/>
          <a:p>
            <a:pPr algn="l"/>
            <a:r>
              <a:rPr sz="1300" b="1" i="0">
                <a:solidFill>
                  <a:srgbClr val="FFFFFF"/>
                </a:solidFill>
              </a:rPr>
              <a:t>Security Reports</a:t>
            </a:r>
          </a:p>
        </p:txBody>
      </p:sp>
      <p:sp>
        <p:nvSpPr>
          <p:cNvPr id="21" name="TextBox 20"/>
          <p:cNvSpPr txBox="1"/>
          <p:nvPr/>
        </p:nvSpPr>
        <p:spPr>
          <a:xfrm>
            <a:off x="8366760" y="2313432"/>
            <a:ext cx="3383280" cy="822960"/>
          </a:xfrm>
          <a:prstGeom prst="rect">
            <a:avLst/>
          </a:prstGeom>
          <a:noFill/>
        </p:spPr>
        <p:txBody>
          <a:bodyPr wrap="square">
            <a:spAutoFit/>
          </a:bodyPr>
          <a:lstStyle/>
          <a:p>
            <a:pPr algn="l"/>
            <a:r>
              <a:rPr sz="1100" b="0" i="0">
                <a:solidFill>
                  <a:srgbClr val="88AACC"/>
                </a:solidFill>
              </a:rPr>
              <a:t>Provide structured, detailed security reports for administrators</a:t>
            </a:r>
          </a:p>
        </p:txBody>
      </p:sp>
      <p:sp>
        <p:nvSpPr>
          <p:cNvPr id="22" name="Rectangle 21"/>
          <p:cNvSpPr/>
          <p:nvPr/>
        </p:nvSpPr>
        <p:spPr>
          <a:xfrm>
            <a:off x="2103120" y="3520440"/>
            <a:ext cx="3657600" cy="20116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103120" y="3520440"/>
            <a:ext cx="3657600"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40279" y="3657600"/>
            <a:ext cx="731520" cy="548640"/>
          </a:xfrm>
          <a:prstGeom prst="rect">
            <a:avLst/>
          </a:prstGeom>
          <a:noFill/>
        </p:spPr>
        <p:txBody>
          <a:bodyPr wrap="square">
            <a:spAutoFit/>
          </a:bodyPr>
          <a:lstStyle/>
          <a:p>
            <a:pPr algn="l"/>
            <a:r>
              <a:rPr sz="2400" b="1" i="0">
                <a:solidFill>
                  <a:srgbClr val="00D4FF"/>
                </a:solidFill>
              </a:rPr>
              <a:t>04</a:t>
            </a:r>
          </a:p>
        </p:txBody>
      </p:sp>
      <p:sp>
        <p:nvSpPr>
          <p:cNvPr id="25" name="TextBox 24"/>
          <p:cNvSpPr txBox="1"/>
          <p:nvPr/>
        </p:nvSpPr>
        <p:spPr>
          <a:xfrm>
            <a:off x="2240279" y="4206240"/>
            <a:ext cx="3383280" cy="411480"/>
          </a:xfrm>
          <a:prstGeom prst="rect">
            <a:avLst/>
          </a:prstGeom>
          <a:noFill/>
        </p:spPr>
        <p:txBody>
          <a:bodyPr wrap="square">
            <a:spAutoFit/>
          </a:bodyPr>
          <a:lstStyle/>
          <a:p>
            <a:pPr algn="l"/>
            <a:r>
              <a:rPr sz="1300" b="1" i="0">
                <a:solidFill>
                  <a:srgbClr val="FFFFFF"/>
                </a:solidFill>
              </a:rPr>
              <a:t>Security Awareness</a:t>
            </a:r>
          </a:p>
        </p:txBody>
      </p:sp>
      <p:sp>
        <p:nvSpPr>
          <p:cNvPr id="26" name="TextBox 25"/>
          <p:cNvSpPr txBox="1"/>
          <p:nvPr/>
        </p:nvSpPr>
        <p:spPr>
          <a:xfrm>
            <a:off x="2240279" y="4599432"/>
            <a:ext cx="3383280" cy="822960"/>
          </a:xfrm>
          <a:prstGeom prst="rect">
            <a:avLst/>
          </a:prstGeom>
          <a:noFill/>
        </p:spPr>
        <p:txBody>
          <a:bodyPr wrap="square">
            <a:spAutoFit/>
          </a:bodyPr>
          <a:lstStyle/>
          <a:p>
            <a:pPr algn="l"/>
            <a:r>
              <a:rPr sz="1100" b="0" i="0">
                <a:solidFill>
                  <a:srgbClr val="88AACC"/>
                </a:solidFill>
              </a:rPr>
              <a:t>Improve system security awareness across the organization</a:t>
            </a:r>
          </a:p>
        </p:txBody>
      </p:sp>
      <p:sp>
        <p:nvSpPr>
          <p:cNvPr id="27" name="Rectangle 26"/>
          <p:cNvSpPr/>
          <p:nvPr/>
        </p:nvSpPr>
        <p:spPr>
          <a:xfrm>
            <a:off x="6035040" y="3520440"/>
            <a:ext cx="3657600" cy="20116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35040" y="3520440"/>
            <a:ext cx="3657600"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72200" y="3657600"/>
            <a:ext cx="731520" cy="548640"/>
          </a:xfrm>
          <a:prstGeom prst="rect">
            <a:avLst/>
          </a:prstGeom>
          <a:noFill/>
        </p:spPr>
        <p:txBody>
          <a:bodyPr wrap="square">
            <a:spAutoFit/>
          </a:bodyPr>
          <a:lstStyle/>
          <a:p>
            <a:pPr algn="l"/>
            <a:r>
              <a:rPr sz="2400" b="1" i="0">
                <a:solidFill>
                  <a:srgbClr val="00D4FF"/>
                </a:solidFill>
              </a:rPr>
              <a:t>05</a:t>
            </a:r>
          </a:p>
        </p:txBody>
      </p:sp>
      <p:sp>
        <p:nvSpPr>
          <p:cNvPr id="30" name="TextBox 29"/>
          <p:cNvSpPr txBox="1"/>
          <p:nvPr/>
        </p:nvSpPr>
        <p:spPr>
          <a:xfrm>
            <a:off x="6172200" y="4206240"/>
            <a:ext cx="3383280" cy="411480"/>
          </a:xfrm>
          <a:prstGeom prst="rect">
            <a:avLst/>
          </a:prstGeom>
          <a:noFill/>
        </p:spPr>
        <p:txBody>
          <a:bodyPr wrap="square">
            <a:spAutoFit/>
          </a:bodyPr>
          <a:lstStyle/>
          <a:p>
            <a:pPr algn="l"/>
            <a:r>
              <a:rPr sz="1300" b="1" i="0">
                <a:solidFill>
                  <a:srgbClr val="FFFFFF"/>
                </a:solidFill>
              </a:rPr>
              <a:t>Misconfiguration Detection</a:t>
            </a:r>
          </a:p>
        </p:txBody>
      </p:sp>
      <p:sp>
        <p:nvSpPr>
          <p:cNvPr id="31" name="TextBox 30"/>
          <p:cNvSpPr txBox="1"/>
          <p:nvPr/>
        </p:nvSpPr>
        <p:spPr>
          <a:xfrm>
            <a:off x="6172200" y="4599432"/>
            <a:ext cx="3383280" cy="822960"/>
          </a:xfrm>
          <a:prstGeom prst="rect">
            <a:avLst/>
          </a:prstGeom>
          <a:noFill/>
        </p:spPr>
        <p:txBody>
          <a:bodyPr wrap="square">
            <a:spAutoFit/>
          </a:bodyPr>
          <a:lstStyle/>
          <a:p>
            <a:pPr algn="l"/>
            <a:r>
              <a:rPr sz="1100" b="0" i="0">
                <a:solidFill>
                  <a:srgbClr val="88AACC"/>
                </a:solidFill>
              </a:rPr>
              <a:t>Help administrators identify and fix critical misconfigurations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100584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91440"/>
            <a:ext cx="11731752" cy="640080"/>
          </a:xfrm>
          <a:prstGeom prst="rect">
            <a:avLst/>
          </a:prstGeom>
          <a:noFill/>
        </p:spPr>
        <p:txBody>
          <a:bodyPr wrap="square">
            <a:spAutoFit/>
          </a:bodyPr>
          <a:lstStyle/>
          <a:p>
            <a:pPr algn="l"/>
            <a:r>
              <a:rPr sz="2800" b="1" i="0">
                <a:solidFill>
                  <a:srgbClr val="FFFFFF"/>
                </a:solidFill>
              </a:rPr>
              <a:t>Scope of the Project</a:t>
            </a:r>
          </a:p>
        </p:txBody>
      </p:sp>
      <p:sp>
        <p:nvSpPr>
          <p:cNvPr id="5" name="TextBox 4"/>
          <p:cNvSpPr txBox="1"/>
          <p:nvPr/>
        </p:nvSpPr>
        <p:spPr>
          <a:xfrm>
            <a:off x="228600" y="658368"/>
            <a:ext cx="11731752" cy="365760"/>
          </a:xfrm>
          <a:prstGeom prst="rect">
            <a:avLst/>
          </a:prstGeom>
          <a:noFill/>
        </p:spPr>
        <p:txBody>
          <a:bodyPr wrap="square">
            <a:spAutoFit/>
          </a:bodyPr>
          <a:lstStyle/>
          <a:p>
            <a:pPr algn="l"/>
            <a:r>
              <a:rPr sz="1300" b="0" i="0">
                <a:solidFill>
                  <a:srgbClr val="00D4FF"/>
                </a:solidFill>
              </a:rPr>
              <a:t>What's In and Out of Scope</a:t>
            </a:r>
          </a:p>
        </p:txBody>
      </p:sp>
      <p:sp>
        <p:nvSpPr>
          <p:cNvPr id="6" name="Rectangle 5"/>
          <p:cNvSpPr/>
          <p:nvPr/>
        </p:nvSpPr>
        <p:spPr>
          <a:xfrm>
            <a:off x="0" y="1005840"/>
            <a:ext cx="12188952"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34440"/>
            <a:ext cx="5394960" cy="457200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234440"/>
            <a:ext cx="5394960" cy="73152"/>
          </a:xfrm>
          <a:prstGeom prst="rect">
            <a:avLst/>
          </a:prstGeom>
          <a:solidFill>
            <a:srgbClr val="00F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71600"/>
            <a:ext cx="5029200" cy="457200"/>
          </a:xfrm>
          <a:prstGeom prst="rect">
            <a:avLst/>
          </a:prstGeom>
          <a:noFill/>
        </p:spPr>
        <p:txBody>
          <a:bodyPr wrap="square">
            <a:spAutoFit/>
          </a:bodyPr>
          <a:lstStyle/>
          <a:p>
            <a:pPr algn="l"/>
            <a:r>
              <a:rPr sz="1600" b="1" i="0">
                <a:solidFill>
                  <a:srgbClr val="00FFA3"/>
                </a:solidFill>
              </a:rPr>
              <a:t>✅  IN SCOPE</a:t>
            </a:r>
          </a:p>
        </p:txBody>
      </p:sp>
      <p:sp>
        <p:nvSpPr>
          <p:cNvPr id="10" name="Rectangle 9"/>
          <p:cNvSpPr/>
          <p:nvPr/>
        </p:nvSpPr>
        <p:spPr>
          <a:xfrm>
            <a:off x="548640" y="1920240"/>
            <a:ext cx="5029200" cy="548640"/>
          </a:xfrm>
          <a:prstGeom prst="rect">
            <a:avLst/>
          </a:prstGeom>
          <a:solidFill>
            <a:srgbClr val="153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993392"/>
            <a:ext cx="4754880" cy="411480"/>
          </a:xfrm>
          <a:prstGeom prst="rect">
            <a:avLst/>
          </a:prstGeom>
          <a:noFill/>
        </p:spPr>
        <p:txBody>
          <a:bodyPr wrap="square">
            <a:spAutoFit/>
          </a:bodyPr>
          <a:lstStyle/>
          <a:p>
            <a:pPr algn="l"/>
            <a:r>
              <a:rPr sz="1300" b="0" i="0">
                <a:solidFill>
                  <a:srgbClr val="00FFA3"/>
                </a:solidFill>
              </a:rPr>
              <a:t>→  Detect SUID/SGID binaries</a:t>
            </a:r>
          </a:p>
        </p:txBody>
      </p:sp>
      <p:sp>
        <p:nvSpPr>
          <p:cNvPr id="12" name="Rectangle 11"/>
          <p:cNvSpPr/>
          <p:nvPr/>
        </p:nvSpPr>
        <p:spPr>
          <a:xfrm>
            <a:off x="548640" y="2578608"/>
            <a:ext cx="5029200" cy="548640"/>
          </a:xfrm>
          <a:prstGeom prst="rect">
            <a:avLst/>
          </a:prstGeom>
          <a:solidFill>
            <a:srgbClr val="153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651760"/>
            <a:ext cx="4754880" cy="411480"/>
          </a:xfrm>
          <a:prstGeom prst="rect">
            <a:avLst/>
          </a:prstGeom>
          <a:noFill/>
        </p:spPr>
        <p:txBody>
          <a:bodyPr wrap="square">
            <a:spAutoFit/>
          </a:bodyPr>
          <a:lstStyle/>
          <a:p>
            <a:pPr algn="l"/>
            <a:r>
              <a:rPr sz="1300" b="0" i="0">
                <a:solidFill>
                  <a:srgbClr val="00FFA3"/>
                </a:solidFill>
              </a:rPr>
              <a:t>→  Identify weak file permissions</a:t>
            </a:r>
          </a:p>
        </p:txBody>
      </p:sp>
      <p:sp>
        <p:nvSpPr>
          <p:cNvPr id="14" name="Rectangle 13"/>
          <p:cNvSpPr/>
          <p:nvPr/>
        </p:nvSpPr>
        <p:spPr>
          <a:xfrm>
            <a:off x="548640" y="3236976"/>
            <a:ext cx="5029200" cy="548640"/>
          </a:xfrm>
          <a:prstGeom prst="rect">
            <a:avLst/>
          </a:prstGeom>
          <a:solidFill>
            <a:srgbClr val="153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310128"/>
            <a:ext cx="4754880" cy="411480"/>
          </a:xfrm>
          <a:prstGeom prst="rect">
            <a:avLst/>
          </a:prstGeom>
          <a:noFill/>
        </p:spPr>
        <p:txBody>
          <a:bodyPr wrap="square">
            <a:spAutoFit/>
          </a:bodyPr>
          <a:lstStyle/>
          <a:p>
            <a:pPr algn="l"/>
            <a:r>
              <a:rPr sz="1300" b="0" i="0">
                <a:solidFill>
                  <a:srgbClr val="00FFA3"/>
                </a:solidFill>
              </a:rPr>
              <a:t>→  Enumerate cron jobs</a:t>
            </a:r>
          </a:p>
        </p:txBody>
      </p:sp>
      <p:sp>
        <p:nvSpPr>
          <p:cNvPr id="16" name="Rectangle 15"/>
          <p:cNvSpPr/>
          <p:nvPr/>
        </p:nvSpPr>
        <p:spPr>
          <a:xfrm>
            <a:off x="548640" y="3895344"/>
            <a:ext cx="5029200" cy="548640"/>
          </a:xfrm>
          <a:prstGeom prst="rect">
            <a:avLst/>
          </a:prstGeom>
          <a:solidFill>
            <a:srgbClr val="153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3968496"/>
            <a:ext cx="4754880" cy="411480"/>
          </a:xfrm>
          <a:prstGeom prst="rect">
            <a:avLst/>
          </a:prstGeom>
          <a:noFill/>
        </p:spPr>
        <p:txBody>
          <a:bodyPr wrap="square">
            <a:spAutoFit/>
          </a:bodyPr>
          <a:lstStyle/>
          <a:p>
            <a:pPr algn="l"/>
            <a:r>
              <a:rPr sz="1300" b="0" i="0">
                <a:solidFill>
                  <a:srgbClr val="00FFA3"/>
                </a:solidFill>
              </a:rPr>
              <a:t>→  Analyze sudo privileges</a:t>
            </a:r>
          </a:p>
        </p:txBody>
      </p:sp>
      <p:sp>
        <p:nvSpPr>
          <p:cNvPr id="18" name="Rectangle 17"/>
          <p:cNvSpPr/>
          <p:nvPr/>
        </p:nvSpPr>
        <p:spPr>
          <a:xfrm>
            <a:off x="548640" y="4553712"/>
            <a:ext cx="5029200" cy="548640"/>
          </a:xfrm>
          <a:prstGeom prst="rect">
            <a:avLst/>
          </a:prstGeom>
          <a:solidFill>
            <a:srgbClr val="153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626864"/>
            <a:ext cx="4754880" cy="411480"/>
          </a:xfrm>
          <a:prstGeom prst="rect">
            <a:avLst/>
          </a:prstGeom>
          <a:noFill/>
        </p:spPr>
        <p:txBody>
          <a:bodyPr wrap="square">
            <a:spAutoFit/>
          </a:bodyPr>
          <a:lstStyle/>
          <a:p>
            <a:pPr algn="l"/>
            <a:r>
              <a:rPr sz="1300" b="0" i="0">
                <a:solidFill>
                  <a:srgbClr val="00FFA3"/>
                </a:solidFill>
              </a:rPr>
              <a:t>→  Detect outdated kernel versions</a:t>
            </a:r>
          </a:p>
        </p:txBody>
      </p:sp>
      <p:sp>
        <p:nvSpPr>
          <p:cNvPr id="20" name="Rectangle 19"/>
          <p:cNvSpPr/>
          <p:nvPr/>
        </p:nvSpPr>
        <p:spPr>
          <a:xfrm>
            <a:off x="548640" y="5212079"/>
            <a:ext cx="5029200" cy="548640"/>
          </a:xfrm>
          <a:prstGeom prst="rect">
            <a:avLst/>
          </a:prstGeom>
          <a:solidFill>
            <a:srgbClr val="153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285231"/>
            <a:ext cx="4754880" cy="411480"/>
          </a:xfrm>
          <a:prstGeom prst="rect">
            <a:avLst/>
          </a:prstGeom>
          <a:noFill/>
        </p:spPr>
        <p:txBody>
          <a:bodyPr wrap="square">
            <a:spAutoFit/>
          </a:bodyPr>
          <a:lstStyle/>
          <a:p>
            <a:pPr algn="l"/>
            <a:r>
              <a:rPr sz="1300" b="0" i="0">
                <a:solidFill>
                  <a:srgbClr val="00FFA3"/>
                </a:solidFill>
              </a:rPr>
              <a:t>→  Generate security audit reports</a:t>
            </a:r>
          </a:p>
        </p:txBody>
      </p:sp>
      <p:sp>
        <p:nvSpPr>
          <p:cNvPr id="22" name="Rectangle 21"/>
          <p:cNvSpPr/>
          <p:nvPr/>
        </p:nvSpPr>
        <p:spPr>
          <a:xfrm>
            <a:off x="6309360" y="1234440"/>
            <a:ext cx="5394960" cy="457200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09360" y="1234440"/>
            <a:ext cx="5394960" cy="73152"/>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1371600"/>
            <a:ext cx="5029200" cy="457200"/>
          </a:xfrm>
          <a:prstGeom prst="rect">
            <a:avLst/>
          </a:prstGeom>
          <a:noFill/>
        </p:spPr>
        <p:txBody>
          <a:bodyPr wrap="square">
            <a:spAutoFit/>
          </a:bodyPr>
          <a:lstStyle/>
          <a:p>
            <a:pPr algn="l"/>
            <a:r>
              <a:rPr sz="1600" b="1" i="0">
                <a:solidFill>
                  <a:srgbClr val="FF4D4D"/>
                </a:solidFill>
              </a:rPr>
              <a:t>🚫  OUT OF SCOPE</a:t>
            </a:r>
          </a:p>
        </p:txBody>
      </p:sp>
      <p:sp>
        <p:nvSpPr>
          <p:cNvPr id="25" name="Rectangle 24"/>
          <p:cNvSpPr/>
          <p:nvPr/>
        </p:nvSpPr>
        <p:spPr>
          <a:xfrm>
            <a:off x="6492240" y="1920240"/>
            <a:ext cx="5029200" cy="548640"/>
          </a:xfrm>
          <a:prstGeom prst="rect">
            <a:avLst/>
          </a:prstGeom>
          <a:solidFill>
            <a:srgbClr val="3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29400" y="1993392"/>
            <a:ext cx="4754880" cy="411480"/>
          </a:xfrm>
          <a:prstGeom prst="rect">
            <a:avLst/>
          </a:prstGeom>
          <a:noFill/>
        </p:spPr>
        <p:txBody>
          <a:bodyPr wrap="square">
            <a:spAutoFit/>
          </a:bodyPr>
          <a:lstStyle/>
          <a:p>
            <a:pPr algn="l"/>
            <a:r>
              <a:rPr sz="1300" b="0" i="0">
                <a:solidFill>
                  <a:srgbClr val="FF4D4D"/>
                </a:solidFill>
              </a:rPr>
              <a:t>✗  Exploiting vulnerabilities</a:t>
            </a:r>
          </a:p>
        </p:txBody>
      </p:sp>
      <p:sp>
        <p:nvSpPr>
          <p:cNvPr id="27" name="Rectangle 26"/>
          <p:cNvSpPr/>
          <p:nvPr/>
        </p:nvSpPr>
        <p:spPr>
          <a:xfrm>
            <a:off x="6492240" y="2578608"/>
            <a:ext cx="5029200" cy="548640"/>
          </a:xfrm>
          <a:prstGeom prst="rect">
            <a:avLst/>
          </a:prstGeom>
          <a:solidFill>
            <a:srgbClr val="3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29400" y="2651760"/>
            <a:ext cx="4754880" cy="411480"/>
          </a:xfrm>
          <a:prstGeom prst="rect">
            <a:avLst/>
          </a:prstGeom>
          <a:noFill/>
        </p:spPr>
        <p:txBody>
          <a:bodyPr wrap="square">
            <a:spAutoFit/>
          </a:bodyPr>
          <a:lstStyle/>
          <a:p>
            <a:pPr algn="l"/>
            <a:r>
              <a:rPr sz="1300" b="0" i="0">
                <a:solidFill>
                  <a:srgbClr val="FF4D4D"/>
                </a:solidFill>
              </a:rPr>
              <a:t>✗  Gaining root access</a:t>
            </a:r>
          </a:p>
        </p:txBody>
      </p:sp>
      <p:sp>
        <p:nvSpPr>
          <p:cNvPr id="29" name="Rectangle 28"/>
          <p:cNvSpPr/>
          <p:nvPr/>
        </p:nvSpPr>
        <p:spPr>
          <a:xfrm>
            <a:off x="6492240" y="3236976"/>
            <a:ext cx="5029200" cy="548640"/>
          </a:xfrm>
          <a:prstGeom prst="rect">
            <a:avLst/>
          </a:prstGeom>
          <a:solidFill>
            <a:srgbClr val="3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29400" y="3310128"/>
            <a:ext cx="4754880" cy="411480"/>
          </a:xfrm>
          <a:prstGeom prst="rect">
            <a:avLst/>
          </a:prstGeom>
          <a:noFill/>
        </p:spPr>
        <p:txBody>
          <a:bodyPr wrap="square">
            <a:spAutoFit/>
          </a:bodyPr>
          <a:lstStyle/>
          <a:p>
            <a:pPr algn="l"/>
            <a:r>
              <a:rPr sz="1300" b="0" i="0">
                <a:solidFill>
                  <a:srgbClr val="FF4D4D"/>
                </a:solidFill>
              </a:rPr>
              <a:t>✗  Modifying system files</a:t>
            </a:r>
          </a:p>
        </p:txBody>
      </p:sp>
      <p:sp>
        <p:nvSpPr>
          <p:cNvPr id="31" name="Rectangle 30"/>
          <p:cNvSpPr/>
          <p:nvPr/>
        </p:nvSpPr>
        <p:spPr>
          <a:xfrm>
            <a:off x="6492240" y="3895344"/>
            <a:ext cx="5029200" cy="548640"/>
          </a:xfrm>
          <a:prstGeom prst="rect">
            <a:avLst/>
          </a:prstGeom>
          <a:solidFill>
            <a:srgbClr val="3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29400" y="3968496"/>
            <a:ext cx="4754880" cy="411480"/>
          </a:xfrm>
          <a:prstGeom prst="rect">
            <a:avLst/>
          </a:prstGeom>
          <a:noFill/>
        </p:spPr>
        <p:txBody>
          <a:bodyPr wrap="square">
            <a:spAutoFit/>
          </a:bodyPr>
          <a:lstStyle/>
          <a:p>
            <a:pPr algn="l"/>
            <a:r>
              <a:rPr sz="1300" b="0" i="0">
                <a:solidFill>
                  <a:srgbClr val="FF4D4D"/>
                </a:solidFill>
              </a:rPr>
              <a:t>✗  Attacking production systems</a:t>
            </a:r>
          </a:p>
        </p:txBody>
      </p:sp>
      <p:sp>
        <p:nvSpPr>
          <p:cNvPr id="33" name="Rectangle 32"/>
          <p:cNvSpPr/>
          <p:nvPr/>
        </p:nvSpPr>
        <p:spPr>
          <a:xfrm>
            <a:off x="6492240" y="4553712"/>
            <a:ext cx="5029200" cy="548640"/>
          </a:xfrm>
          <a:prstGeom prst="rect">
            <a:avLst/>
          </a:prstGeom>
          <a:solidFill>
            <a:srgbClr val="30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29400" y="4626864"/>
            <a:ext cx="4754880" cy="411480"/>
          </a:xfrm>
          <a:prstGeom prst="rect">
            <a:avLst/>
          </a:prstGeom>
          <a:noFill/>
        </p:spPr>
        <p:txBody>
          <a:bodyPr wrap="square">
            <a:spAutoFit/>
          </a:bodyPr>
          <a:lstStyle/>
          <a:p>
            <a:pPr algn="l"/>
            <a:r>
              <a:rPr sz="1300" b="0" i="0">
                <a:solidFill>
                  <a:srgbClr val="FF4D4D"/>
                </a:solidFill>
              </a:rPr>
              <a:t>✗  Social engineering attacks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100584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91440"/>
            <a:ext cx="11731752" cy="640080"/>
          </a:xfrm>
          <a:prstGeom prst="rect">
            <a:avLst/>
          </a:prstGeom>
          <a:noFill/>
        </p:spPr>
        <p:txBody>
          <a:bodyPr wrap="square">
            <a:spAutoFit/>
          </a:bodyPr>
          <a:lstStyle/>
          <a:p>
            <a:pPr algn="l"/>
            <a:r>
              <a:rPr sz="2800" b="1" i="0">
                <a:solidFill>
                  <a:srgbClr val="FFFFFF"/>
                </a:solidFill>
              </a:rPr>
              <a:t>Tools &amp; Technologies</a:t>
            </a:r>
          </a:p>
        </p:txBody>
      </p:sp>
      <p:sp>
        <p:nvSpPr>
          <p:cNvPr id="5" name="TextBox 4"/>
          <p:cNvSpPr txBox="1"/>
          <p:nvPr/>
        </p:nvSpPr>
        <p:spPr>
          <a:xfrm>
            <a:off x="228600" y="658368"/>
            <a:ext cx="11731752" cy="365760"/>
          </a:xfrm>
          <a:prstGeom prst="rect">
            <a:avLst/>
          </a:prstGeom>
          <a:noFill/>
        </p:spPr>
        <p:txBody>
          <a:bodyPr wrap="square">
            <a:spAutoFit/>
          </a:bodyPr>
          <a:lstStyle/>
          <a:p>
            <a:pPr algn="l"/>
            <a:r>
              <a:rPr sz="1300" b="0" i="0">
                <a:solidFill>
                  <a:srgbClr val="00D4FF"/>
                </a:solidFill>
              </a:rPr>
              <a:t>Technology Stack Used</a:t>
            </a:r>
          </a:p>
        </p:txBody>
      </p:sp>
      <p:sp>
        <p:nvSpPr>
          <p:cNvPr id="6" name="Rectangle 5"/>
          <p:cNvSpPr/>
          <p:nvPr/>
        </p:nvSpPr>
        <p:spPr>
          <a:xfrm>
            <a:off x="0" y="1005840"/>
            <a:ext cx="12188952"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80160"/>
            <a:ext cx="3657600" cy="15544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280160"/>
            <a:ext cx="73152" cy="155448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1463039"/>
            <a:ext cx="594360" cy="594360"/>
          </a:xfrm>
          <a:prstGeom prst="rect">
            <a:avLst/>
          </a:prstGeom>
          <a:noFill/>
        </p:spPr>
        <p:txBody>
          <a:bodyPr wrap="square">
            <a:spAutoFit/>
          </a:bodyPr>
          <a:lstStyle/>
          <a:p>
            <a:pPr algn="l"/>
            <a:r>
              <a:rPr sz="2400" b="0" i="0">
                <a:solidFill>
                  <a:srgbClr val="FFFFFF"/>
                </a:solidFill>
              </a:rPr>
              <a:t>🐧</a:t>
            </a:r>
          </a:p>
        </p:txBody>
      </p:sp>
      <p:sp>
        <p:nvSpPr>
          <p:cNvPr id="10" name="TextBox 9"/>
          <p:cNvSpPr txBox="1"/>
          <p:nvPr/>
        </p:nvSpPr>
        <p:spPr>
          <a:xfrm>
            <a:off x="1234440" y="1463039"/>
            <a:ext cx="2651760" cy="411480"/>
          </a:xfrm>
          <a:prstGeom prst="rect">
            <a:avLst/>
          </a:prstGeom>
          <a:noFill/>
        </p:spPr>
        <p:txBody>
          <a:bodyPr wrap="square">
            <a:spAutoFit/>
          </a:bodyPr>
          <a:lstStyle/>
          <a:p>
            <a:pPr algn="l"/>
            <a:r>
              <a:rPr sz="1300" b="1" i="0">
                <a:solidFill>
                  <a:srgbClr val="00D4FF"/>
                </a:solidFill>
              </a:rPr>
              <a:t>Operating System</a:t>
            </a:r>
          </a:p>
        </p:txBody>
      </p:sp>
      <p:sp>
        <p:nvSpPr>
          <p:cNvPr id="11" name="TextBox 10"/>
          <p:cNvSpPr txBox="1"/>
          <p:nvPr/>
        </p:nvSpPr>
        <p:spPr>
          <a:xfrm>
            <a:off x="1234440" y="1874519"/>
            <a:ext cx="2651760" cy="640080"/>
          </a:xfrm>
          <a:prstGeom prst="rect">
            <a:avLst/>
          </a:prstGeom>
          <a:noFill/>
        </p:spPr>
        <p:txBody>
          <a:bodyPr wrap="square">
            <a:spAutoFit/>
          </a:bodyPr>
          <a:lstStyle/>
          <a:p>
            <a:pPr algn="l"/>
            <a:r>
              <a:rPr sz="1100" b="0" i="0">
                <a:solidFill>
                  <a:srgbClr val="88AACC"/>
                </a:solidFill>
              </a:rPr>
              <a:t>Kali Linux</a:t>
            </a:r>
          </a:p>
        </p:txBody>
      </p:sp>
      <p:sp>
        <p:nvSpPr>
          <p:cNvPr id="12" name="Rectangle 11"/>
          <p:cNvSpPr/>
          <p:nvPr/>
        </p:nvSpPr>
        <p:spPr>
          <a:xfrm>
            <a:off x="4297680" y="1280160"/>
            <a:ext cx="3657600" cy="15544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280160"/>
            <a:ext cx="73152" cy="155448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62272" y="1463039"/>
            <a:ext cx="594360" cy="594360"/>
          </a:xfrm>
          <a:prstGeom prst="rect">
            <a:avLst/>
          </a:prstGeom>
          <a:noFill/>
        </p:spPr>
        <p:txBody>
          <a:bodyPr wrap="square">
            <a:spAutoFit/>
          </a:bodyPr>
          <a:lstStyle/>
          <a:p>
            <a:pPr algn="l"/>
            <a:r>
              <a:rPr sz="2400" b="0" i="0">
                <a:solidFill>
                  <a:srgbClr val="FFFFFF"/>
                </a:solidFill>
              </a:rPr>
              <a:t>🐍</a:t>
            </a:r>
          </a:p>
        </p:txBody>
      </p:sp>
      <p:sp>
        <p:nvSpPr>
          <p:cNvPr id="15" name="TextBox 14"/>
          <p:cNvSpPr txBox="1"/>
          <p:nvPr/>
        </p:nvSpPr>
        <p:spPr>
          <a:xfrm>
            <a:off x="5166360" y="1463039"/>
            <a:ext cx="2651760" cy="411480"/>
          </a:xfrm>
          <a:prstGeom prst="rect">
            <a:avLst/>
          </a:prstGeom>
          <a:noFill/>
        </p:spPr>
        <p:txBody>
          <a:bodyPr wrap="square">
            <a:spAutoFit/>
          </a:bodyPr>
          <a:lstStyle/>
          <a:p>
            <a:pPr algn="l"/>
            <a:r>
              <a:rPr sz="1300" b="1" i="0">
                <a:solidFill>
                  <a:srgbClr val="00D4FF"/>
                </a:solidFill>
              </a:rPr>
              <a:t>Python</a:t>
            </a:r>
          </a:p>
        </p:txBody>
      </p:sp>
      <p:sp>
        <p:nvSpPr>
          <p:cNvPr id="16" name="TextBox 15"/>
          <p:cNvSpPr txBox="1"/>
          <p:nvPr/>
        </p:nvSpPr>
        <p:spPr>
          <a:xfrm>
            <a:off x="5166360" y="1874519"/>
            <a:ext cx="2651760" cy="640080"/>
          </a:xfrm>
          <a:prstGeom prst="rect">
            <a:avLst/>
          </a:prstGeom>
          <a:noFill/>
        </p:spPr>
        <p:txBody>
          <a:bodyPr wrap="square">
            <a:spAutoFit/>
          </a:bodyPr>
          <a:lstStyle/>
          <a:p>
            <a:pPr algn="l"/>
            <a:r>
              <a:rPr sz="1100" b="0" i="0">
                <a:solidFill>
                  <a:srgbClr val="88AACC"/>
                </a:solidFill>
              </a:rPr>
              <a:t>Core Scripting Language</a:t>
            </a:r>
          </a:p>
        </p:txBody>
      </p:sp>
      <p:sp>
        <p:nvSpPr>
          <p:cNvPr id="17" name="Rectangle 16"/>
          <p:cNvSpPr/>
          <p:nvPr/>
        </p:nvSpPr>
        <p:spPr>
          <a:xfrm>
            <a:off x="8229600" y="1280160"/>
            <a:ext cx="3657600" cy="15544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9600" y="1280160"/>
            <a:ext cx="73152" cy="155448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94192" y="1463039"/>
            <a:ext cx="594360" cy="594360"/>
          </a:xfrm>
          <a:prstGeom prst="rect">
            <a:avLst/>
          </a:prstGeom>
          <a:noFill/>
        </p:spPr>
        <p:txBody>
          <a:bodyPr wrap="square">
            <a:spAutoFit/>
          </a:bodyPr>
          <a:lstStyle/>
          <a:p>
            <a:pPr algn="l"/>
            <a:r>
              <a:rPr sz="2400" b="0" i="0">
                <a:solidFill>
                  <a:srgbClr val="FFFFFF"/>
                </a:solidFill>
              </a:rPr>
              <a:t>💲</a:t>
            </a:r>
          </a:p>
        </p:txBody>
      </p:sp>
      <p:sp>
        <p:nvSpPr>
          <p:cNvPr id="20" name="TextBox 19"/>
          <p:cNvSpPr txBox="1"/>
          <p:nvPr/>
        </p:nvSpPr>
        <p:spPr>
          <a:xfrm>
            <a:off x="9098280" y="1463039"/>
            <a:ext cx="2651760" cy="411480"/>
          </a:xfrm>
          <a:prstGeom prst="rect">
            <a:avLst/>
          </a:prstGeom>
          <a:noFill/>
        </p:spPr>
        <p:txBody>
          <a:bodyPr wrap="square">
            <a:spAutoFit/>
          </a:bodyPr>
          <a:lstStyle/>
          <a:p>
            <a:pPr algn="l"/>
            <a:r>
              <a:rPr sz="1300" b="1" i="0">
                <a:solidFill>
                  <a:srgbClr val="00D4FF"/>
                </a:solidFill>
              </a:rPr>
              <a:t>Bash</a:t>
            </a:r>
          </a:p>
        </p:txBody>
      </p:sp>
      <p:sp>
        <p:nvSpPr>
          <p:cNvPr id="21" name="TextBox 20"/>
          <p:cNvSpPr txBox="1"/>
          <p:nvPr/>
        </p:nvSpPr>
        <p:spPr>
          <a:xfrm>
            <a:off x="9098280" y="1874519"/>
            <a:ext cx="2651760" cy="640080"/>
          </a:xfrm>
          <a:prstGeom prst="rect">
            <a:avLst/>
          </a:prstGeom>
          <a:noFill/>
        </p:spPr>
        <p:txBody>
          <a:bodyPr wrap="square">
            <a:spAutoFit/>
          </a:bodyPr>
          <a:lstStyle/>
          <a:p>
            <a:pPr algn="l"/>
            <a:r>
              <a:rPr sz="1100" b="0" i="0">
                <a:solidFill>
                  <a:srgbClr val="88AACC"/>
                </a:solidFill>
              </a:rPr>
              <a:t>Shell Scripting</a:t>
            </a:r>
          </a:p>
        </p:txBody>
      </p:sp>
      <p:sp>
        <p:nvSpPr>
          <p:cNvPr id="22" name="Rectangle 21"/>
          <p:cNvSpPr/>
          <p:nvPr/>
        </p:nvSpPr>
        <p:spPr>
          <a:xfrm>
            <a:off x="365760" y="3063239"/>
            <a:ext cx="3657600" cy="15544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3063239"/>
            <a:ext cx="73152" cy="155448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 y="3246120"/>
            <a:ext cx="594360" cy="594360"/>
          </a:xfrm>
          <a:prstGeom prst="rect">
            <a:avLst/>
          </a:prstGeom>
          <a:noFill/>
        </p:spPr>
        <p:txBody>
          <a:bodyPr wrap="square">
            <a:spAutoFit/>
          </a:bodyPr>
          <a:lstStyle/>
          <a:p>
            <a:pPr algn="l"/>
            <a:r>
              <a:rPr sz="2400" b="0" i="0">
                <a:solidFill>
                  <a:srgbClr val="FFFFFF"/>
                </a:solidFill>
              </a:rPr>
              <a:t>🔍</a:t>
            </a:r>
          </a:p>
        </p:txBody>
      </p:sp>
      <p:sp>
        <p:nvSpPr>
          <p:cNvPr id="25" name="TextBox 24"/>
          <p:cNvSpPr txBox="1"/>
          <p:nvPr/>
        </p:nvSpPr>
        <p:spPr>
          <a:xfrm>
            <a:off x="1234440" y="3246120"/>
            <a:ext cx="2651760" cy="411480"/>
          </a:xfrm>
          <a:prstGeom prst="rect">
            <a:avLst/>
          </a:prstGeom>
          <a:noFill/>
        </p:spPr>
        <p:txBody>
          <a:bodyPr wrap="square">
            <a:spAutoFit/>
          </a:bodyPr>
          <a:lstStyle/>
          <a:p>
            <a:pPr algn="l"/>
            <a:r>
              <a:rPr sz="1300" b="1" i="0">
                <a:solidFill>
                  <a:srgbClr val="00D4FF"/>
                </a:solidFill>
              </a:rPr>
              <a:t>find</a:t>
            </a:r>
          </a:p>
        </p:txBody>
      </p:sp>
      <p:sp>
        <p:nvSpPr>
          <p:cNvPr id="26" name="TextBox 25"/>
          <p:cNvSpPr txBox="1"/>
          <p:nvPr/>
        </p:nvSpPr>
        <p:spPr>
          <a:xfrm>
            <a:off x="1234440" y="3657599"/>
            <a:ext cx="2651760" cy="640080"/>
          </a:xfrm>
          <a:prstGeom prst="rect">
            <a:avLst/>
          </a:prstGeom>
          <a:noFill/>
        </p:spPr>
        <p:txBody>
          <a:bodyPr wrap="square">
            <a:spAutoFit/>
          </a:bodyPr>
          <a:lstStyle/>
          <a:p>
            <a:pPr algn="l"/>
            <a:r>
              <a:rPr sz="1100" b="0" i="0">
                <a:solidFill>
                  <a:srgbClr val="88AACC"/>
                </a:solidFill>
              </a:rPr>
              <a:t>Filesystem Search</a:t>
            </a:r>
          </a:p>
        </p:txBody>
      </p:sp>
      <p:sp>
        <p:nvSpPr>
          <p:cNvPr id="27" name="Rectangle 26"/>
          <p:cNvSpPr/>
          <p:nvPr/>
        </p:nvSpPr>
        <p:spPr>
          <a:xfrm>
            <a:off x="4297680" y="3063239"/>
            <a:ext cx="3657600" cy="15544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7680" y="3063239"/>
            <a:ext cx="73152" cy="155448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62272" y="3246120"/>
            <a:ext cx="594360" cy="594360"/>
          </a:xfrm>
          <a:prstGeom prst="rect">
            <a:avLst/>
          </a:prstGeom>
          <a:noFill/>
        </p:spPr>
        <p:txBody>
          <a:bodyPr wrap="square">
            <a:spAutoFit/>
          </a:bodyPr>
          <a:lstStyle/>
          <a:p>
            <a:pPr algn="l"/>
            <a:r>
              <a:rPr sz="2400" b="0" i="0">
                <a:solidFill>
                  <a:srgbClr val="FFFFFF"/>
                </a:solidFill>
              </a:rPr>
              <a:t>🔑</a:t>
            </a:r>
          </a:p>
        </p:txBody>
      </p:sp>
      <p:sp>
        <p:nvSpPr>
          <p:cNvPr id="30" name="TextBox 29"/>
          <p:cNvSpPr txBox="1"/>
          <p:nvPr/>
        </p:nvSpPr>
        <p:spPr>
          <a:xfrm>
            <a:off x="5166360" y="3246120"/>
            <a:ext cx="2651760" cy="411480"/>
          </a:xfrm>
          <a:prstGeom prst="rect">
            <a:avLst/>
          </a:prstGeom>
          <a:noFill/>
        </p:spPr>
        <p:txBody>
          <a:bodyPr wrap="square">
            <a:spAutoFit/>
          </a:bodyPr>
          <a:lstStyle/>
          <a:p>
            <a:pPr algn="l"/>
            <a:r>
              <a:rPr sz="1300" b="1" i="0">
                <a:solidFill>
                  <a:srgbClr val="00D4FF"/>
                </a:solidFill>
              </a:rPr>
              <a:t>sudo -l</a:t>
            </a:r>
          </a:p>
        </p:txBody>
      </p:sp>
      <p:sp>
        <p:nvSpPr>
          <p:cNvPr id="31" name="TextBox 30"/>
          <p:cNvSpPr txBox="1"/>
          <p:nvPr/>
        </p:nvSpPr>
        <p:spPr>
          <a:xfrm>
            <a:off x="5166360" y="3657599"/>
            <a:ext cx="2651760" cy="640080"/>
          </a:xfrm>
          <a:prstGeom prst="rect">
            <a:avLst/>
          </a:prstGeom>
          <a:noFill/>
        </p:spPr>
        <p:txBody>
          <a:bodyPr wrap="square">
            <a:spAutoFit/>
          </a:bodyPr>
          <a:lstStyle/>
          <a:p>
            <a:pPr algn="l"/>
            <a:r>
              <a:rPr sz="1100" b="0" i="0">
                <a:solidFill>
                  <a:srgbClr val="88AACC"/>
                </a:solidFill>
              </a:rPr>
              <a:t>Privilege Analysis</a:t>
            </a:r>
          </a:p>
        </p:txBody>
      </p:sp>
      <p:sp>
        <p:nvSpPr>
          <p:cNvPr id="32" name="Rectangle 31"/>
          <p:cNvSpPr/>
          <p:nvPr/>
        </p:nvSpPr>
        <p:spPr>
          <a:xfrm>
            <a:off x="8229600" y="3063239"/>
            <a:ext cx="3657600" cy="15544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29600" y="3063239"/>
            <a:ext cx="73152" cy="155448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94192" y="3246120"/>
            <a:ext cx="594360" cy="594360"/>
          </a:xfrm>
          <a:prstGeom prst="rect">
            <a:avLst/>
          </a:prstGeom>
          <a:noFill/>
        </p:spPr>
        <p:txBody>
          <a:bodyPr wrap="square">
            <a:spAutoFit/>
          </a:bodyPr>
          <a:lstStyle/>
          <a:p>
            <a:pPr algn="l"/>
            <a:r>
              <a:rPr sz="2400" b="0" i="0">
                <a:solidFill>
                  <a:srgbClr val="FFFFFF"/>
                </a:solidFill>
              </a:rPr>
              <a:t>⚙️</a:t>
            </a:r>
          </a:p>
        </p:txBody>
      </p:sp>
      <p:sp>
        <p:nvSpPr>
          <p:cNvPr id="35" name="TextBox 34"/>
          <p:cNvSpPr txBox="1"/>
          <p:nvPr/>
        </p:nvSpPr>
        <p:spPr>
          <a:xfrm>
            <a:off x="9098280" y="3246120"/>
            <a:ext cx="2651760" cy="411480"/>
          </a:xfrm>
          <a:prstGeom prst="rect">
            <a:avLst/>
          </a:prstGeom>
          <a:noFill/>
        </p:spPr>
        <p:txBody>
          <a:bodyPr wrap="square">
            <a:spAutoFit/>
          </a:bodyPr>
          <a:lstStyle/>
          <a:p>
            <a:pPr algn="l"/>
            <a:r>
              <a:rPr sz="1300" b="1" i="0">
                <a:solidFill>
                  <a:srgbClr val="00D4FF"/>
                </a:solidFill>
              </a:rPr>
              <a:t>systemctl</a:t>
            </a:r>
          </a:p>
        </p:txBody>
      </p:sp>
      <p:sp>
        <p:nvSpPr>
          <p:cNvPr id="36" name="TextBox 35"/>
          <p:cNvSpPr txBox="1"/>
          <p:nvPr/>
        </p:nvSpPr>
        <p:spPr>
          <a:xfrm>
            <a:off x="9098280" y="3657599"/>
            <a:ext cx="2651760" cy="640080"/>
          </a:xfrm>
          <a:prstGeom prst="rect">
            <a:avLst/>
          </a:prstGeom>
          <a:noFill/>
        </p:spPr>
        <p:txBody>
          <a:bodyPr wrap="square">
            <a:spAutoFit/>
          </a:bodyPr>
          <a:lstStyle/>
          <a:p>
            <a:pPr algn="l"/>
            <a:r>
              <a:rPr sz="1100" b="0" i="0">
                <a:solidFill>
                  <a:srgbClr val="88AACC"/>
                </a:solidFill>
              </a:rPr>
              <a:t>Service Management</a:t>
            </a:r>
          </a:p>
        </p:txBody>
      </p:sp>
      <p:sp>
        <p:nvSpPr>
          <p:cNvPr id="37" name="Rectangle 36"/>
          <p:cNvSpPr/>
          <p:nvPr/>
        </p:nvSpPr>
        <p:spPr>
          <a:xfrm>
            <a:off x="365760" y="4846320"/>
            <a:ext cx="3657600" cy="15544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65760" y="4846320"/>
            <a:ext cx="73152" cy="155448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0352" y="5029200"/>
            <a:ext cx="594360" cy="594360"/>
          </a:xfrm>
          <a:prstGeom prst="rect">
            <a:avLst/>
          </a:prstGeom>
          <a:noFill/>
        </p:spPr>
        <p:txBody>
          <a:bodyPr wrap="square">
            <a:spAutoFit/>
          </a:bodyPr>
          <a:lstStyle/>
          <a:p>
            <a:pPr algn="l"/>
            <a:r>
              <a:rPr sz="2400" b="0" i="0">
                <a:solidFill>
                  <a:srgbClr val="FFFFFF"/>
                </a:solidFill>
              </a:rPr>
              <a:t>📅</a:t>
            </a:r>
          </a:p>
        </p:txBody>
      </p:sp>
      <p:sp>
        <p:nvSpPr>
          <p:cNvPr id="40" name="TextBox 39"/>
          <p:cNvSpPr txBox="1"/>
          <p:nvPr/>
        </p:nvSpPr>
        <p:spPr>
          <a:xfrm>
            <a:off x="1234440" y="5029200"/>
            <a:ext cx="2651760" cy="411480"/>
          </a:xfrm>
          <a:prstGeom prst="rect">
            <a:avLst/>
          </a:prstGeom>
          <a:noFill/>
        </p:spPr>
        <p:txBody>
          <a:bodyPr wrap="square">
            <a:spAutoFit/>
          </a:bodyPr>
          <a:lstStyle/>
          <a:p>
            <a:pPr algn="l"/>
            <a:r>
              <a:rPr sz="1300" b="1" i="0">
                <a:solidFill>
                  <a:srgbClr val="00D4FF"/>
                </a:solidFill>
              </a:rPr>
              <a:t>crontab</a:t>
            </a:r>
          </a:p>
        </p:txBody>
      </p:sp>
      <p:sp>
        <p:nvSpPr>
          <p:cNvPr id="41" name="TextBox 40"/>
          <p:cNvSpPr txBox="1"/>
          <p:nvPr/>
        </p:nvSpPr>
        <p:spPr>
          <a:xfrm>
            <a:off x="1234440" y="5440680"/>
            <a:ext cx="2651760" cy="640080"/>
          </a:xfrm>
          <a:prstGeom prst="rect">
            <a:avLst/>
          </a:prstGeom>
          <a:noFill/>
        </p:spPr>
        <p:txBody>
          <a:bodyPr wrap="square">
            <a:spAutoFit/>
          </a:bodyPr>
          <a:lstStyle/>
          <a:p>
            <a:pPr algn="l"/>
            <a:r>
              <a:rPr sz="1100" b="0" i="0">
                <a:solidFill>
                  <a:srgbClr val="88AACC"/>
                </a:solidFill>
              </a:rPr>
              <a:t>Cron Job Analysis</a:t>
            </a:r>
          </a:p>
        </p:txBody>
      </p:sp>
      <p:sp>
        <p:nvSpPr>
          <p:cNvPr id="42" name="Rectangle 41"/>
          <p:cNvSpPr/>
          <p:nvPr/>
        </p:nvSpPr>
        <p:spPr>
          <a:xfrm>
            <a:off x="4297680" y="4846320"/>
            <a:ext cx="3657600" cy="15544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297680" y="4846320"/>
            <a:ext cx="73152" cy="155448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462272" y="5029200"/>
            <a:ext cx="594360" cy="594360"/>
          </a:xfrm>
          <a:prstGeom prst="rect">
            <a:avLst/>
          </a:prstGeom>
          <a:noFill/>
        </p:spPr>
        <p:txBody>
          <a:bodyPr wrap="square">
            <a:spAutoFit/>
          </a:bodyPr>
          <a:lstStyle/>
          <a:p>
            <a:pPr algn="l"/>
            <a:r>
              <a:rPr sz="2400" b="0" i="0">
                <a:solidFill>
                  <a:srgbClr val="FFFFFF"/>
                </a:solidFill>
              </a:rPr>
              <a:t>🖥️</a:t>
            </a:r>
          </a:p>
        </p:txBody>
      </p:sp>
      <p:sp>
        <p:nvSpPr>
          <p:cNvPr id="45" name="TextBox 44"/>
          <p:cNvSpPr txBox="1"/>
          <p:nvPr/>
        </p:nvSpPr>
        <p:spPr>
          <a:xfrm>
            <a:off x="5166360" y="5029200"/>
            <a:ext cx="2651760" cy="411480"/>
          </a:xfrm>
          <a:prstGeom prst="rect">
            <a:avLst/>
          </a:prstGeom>
          <a:noFill/>
        </p:spPr>
        <p:txBody>
          <a:bodyPr wrap="square">
            <a:spAutoFit/>
          </a:bodyPr>
          <a:lstStyle/>
          <a:p>
            <a:pPr algn="l"/>
            <a:r>
              <a:rPr sz="1300" b="1" i="0">
                <a:solidFill>
                  <a:srgbClr val="00D4FF"/>
                </a:solidFill>
              </a:rPr>
              <a:t>uname</a:t>
            </a:r>
          </a:p>
        </p:txBody>
      </p:sp>
      <p:sp>
        <p:nvSpPr>
          <p:cNvPr id="46" name="TextBox 45"/>
          <p:cNvSpPr txBox="1"/>
          <p:nvPr/>
        </p:nvSpPr>
        <p:spPr>
          <a:xfrm>
            <a:off x="5166360" y="5440680"/>
            <a:ext cx="2651760" cy="640080"/>
          </a:xfrm>
          <a:prstGeom prst="rect">
            <a:avLst/>
          </a:prstGeom>
          <a:noFill/>
        </p:spPr>
        <p:txBody>
          <a:bodyPr wrap="square">
            <a:spAutoFit/>
          </a:bodyPr>
          <a:lstStyle/>
          <a:p>
            <a:pPr algn="l"/>
            <a:r>
              <a:rPr sz="1100" b="0" i="0">
                <a:solidFill>
                  <a:srgbClr val="88AACC"/>
                </a:solidFill>
              </a:rPr>
              <a:t>Kernel Information</a:t>
            </a:r>
          </a:p>
        </p:txBody>
      </p:sp>
      <p:sp>
        <p:nvSpPr>
          <p:cNvPr id="47" name="Rectangle 46"/>
          <p:cNvSpPr/>
          <p:nvPr/>
        </p:nvSpPr>
        <p:spPr>
          <a:xfrm>
            <a:off x="8229600" y="4846320"/>
            <a:ext cx="3657600" cy="15544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229600" y="4846320"/>
            <a:ext cx="73152" cy="155448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394192" y="5029200"/>
            <a:ext cx="594360" cy="594360"/>
          </a:xfrm>
          <a:prstGeom prst="rect">
            <a:avLst/>
          </a:prstGeom>
          <a:noFill/>
        </p:spPr>
        <p:txBody>
          <a:bodyPr wrap="square">
            <a:spAutoFit/>
          </a:bodyPr>
          <a:lstStyle/>
          <a:p>
            <a:pPr algn="l"/>
            <a:r>
              <a:rPr sz="2400" b="0" i="0">
                <a:solidFill>
                  <a:srgbClr val="FFFFFF"/>
                </a:solidFill>
              </a:rPr>
              <a:t>🔎</a:t>
            </a:r>
          </a:p>
        </p:txBody>
      </p:sp>
      <p:sp>
        <p:nvSpPr>
          <p:cNvPr id="50" name="TextBox 49"/>
          <p:cNvSpPr txBox="1"/>
          <p:nvPr/>
        </p:nvSpPr>
        <p:spPr>
          <a:xfrm>
            <a:off x="9098280" y="5029200"/>
            <a:ext cx="2651760" cy="411480"/>
          </a:xfrm>
          <a:prstGeom prst="rect">
            <a:avLst/>
          </a:prstGeom>
          <a:noFill/>
        </p:spPr>
        <p:txBody>
          <a:bodyPr wrap="square">
            <a:spAutoFit/>
          </a:bodyPr>
          <a:lstStyle/>
          <a:p>
            <a:pPr algn="l"/>
            <a:r>
              <a:rPr sz="1300" b="1" i="0">
                <a:solidFill>
                  <a:srgbClr val="00D4FF"/>
                </a:solidFill>
              </a:rPr>
              <a:t>grep</a:t>
            </a:r>
          </a:p>
        </p:txBody>
      </p:sp>
      <p:sp>
        <p:nvSpPr>
          <p:cNvPr id="51" name="TextBox 50"/>
          <p:cNvSpPr txBox="1"/>
          <p:nvPr/>
        </p:nvSpPr>
        <p:spPr>
          <a:xfrm>
            <a:off x="9098280" y="5440680"/>
            <a:ext cx="2651760" cy="640080"/>
          </a:xfrm>
          <a:prstGeom prst="rect">
            <a:avLst/>
          </a:prstGeom>
          <a:noFill/>
        </p:spPr>
        <p:txBody>
          <a:bodyPr wrap="square">
            <a:spAutoFit/>
          </a:bodyPr>
          <a:lstStyle/>
          <a:p>
            <a:pPr algn="l"/>
            <a:r>
              <a:rPr sz="1100" b="0" i="0">
                <a:solidFill>
                  <a:srgbClr val="88AACC"/>
                </a:solidFill>
              </a:rPr>
              <a:t>Pattern Matching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100584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91440"/>
            <a:ext cx="11731752" cy="640080"/>
          </a:xfrm>
          <a:prstGeom prst="rect">
            <a:avLst/>
          </a:prstGeom>
          <a:noFill/>
        </p:spPr>
        <p:txBody>
          <a:bodyPr wrap="square">
            <a:spAutoFit/>
          </a:bodyPr>
          <a:lstStyle/>
          <a:p>
            <a:pPr algn="l"/>
            <a:r>
              <a:rPr sz="2800" b="1" i="0">
                <a:solidFill>
                  <a:srgbClr val="FFFFFF"/>
                </a:solidFill>
              </a:rPr>
              <a:t>System Architecture</a:t>
            </a:r>
          </a:p>
        </p:txBody>
      </p:sp>
      <p:sp>
        <p:nvSpPr>
          <p:cNvPr id="5" name="TextBox 4"/>
          <p:cNvSpPr txBox="1"/>
          <p:nvPr/>
        </p:nvSpPr>
        <p:spPr>
          <a:xfrm>
            <a:off x="228600" y="658368"/>
            <a:ext cx="11731752" cy="365760"/>
          </a:xfrm>
          <a:prstGeom prst="rect">
            <a:avLst/>
          </a:prstGeom>
          <a:noFill/>
        </p:spPr>
        <p:txBody>
          <a:bodyPr wrap="square">
            <a:spAutoFit/>
          </a:bodyPr>
          <a:lstStyle/>
          <a:p>
            <a:pPr algn="l"/>
            <a:r>
              <a:rPr sz="1300" b="0" i="0">
                <a:solidFill>
                  <a:srgbClr val="00D4FF"/>
                </a:solidFill>
              </a:rPr>
              <a:t>Modular Design Overview</a:t>
            </a:r>
          </a:p>
        </p:txBody>
      </p:sp>
      <p:sp>
        <p:nvSpPr>
          <p:cNvPr id="6" name="Rectangle 5"/>
          <p:cNvSpPr/>
          <p:nvPr/>
        </p:nvSpPr>
        <p:spPr>
          <a:xfrm>
            <a:off x="0" y="1005840"/>
            <a:ext cx="12188952"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371600"/>
            <a:ext cx="2651760" cy="320040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2651760"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463040" y="1508760"/>
            <a:ext cx="640080" cy="64008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63040" y="1508760"/>
            <a:ext cx="640080" cy="640080"/>
          </a:xfrm>
          <a:prstGeom prst="rect">
            <a:avLst/>
          </a:prstGeom>
          <a:noFill/>
        </p:spPr>
        <p:txBody>
          <a:bodyPr wrap="square">
            <a:spAutoFit/>
          </a:bodyPr>
          <a:lstStyle/>
          <a:p>
            <a:pPr algn="ctr"/>
            <a:r>
              <a:rPr sz="2000" b="1" i="0">
                <a:solidFill>
                  <a:srgbClr val="0D1B2A"/>
                </a:solidFill>
              </a:rPr>
              <a:t>1</a:t>
            </a:r>
          </a:p>
        </p:txBody>
      </p:sp>
      <p:sp>
        <p:nvSpPr>
          <p:cNvPr id="11" name="TextBox 10"/>
          <p:cNvSpPr txBox="1"/>
          <p:nvPr/>
        </p:nvSpPr>
        <p:spPr>
          <a:xfrm>
            <a:off x="594360" y="2286000"/>
            <a:ext cx="2377440" cy="640080"/>
          </a:xfrm>
          <a:prstGeom prst="rect">
            <a:avLst/>
          </a:prstGeom>
          <a:noFill/>
        </p:spPr>
        <p:txBody>
          <a:bodyPr wrap="square">
            <a:spAutoFit/>
          </a:bodyPr>
          <a:lstStyle/>
          <a:p>
            <a:pPr algn="ctr"/>
            <a:r>
              <a:rPr sz="1200" b="1" i="0">
                <a:solidFill>
                  <a:srgbClr val="00D4FF"/>
                </a:solidFill>
              </a:rPr>
              <a:t>System Information Module</a:t>
            </a:r>
          </a:p>
        </p:txBody>
      </p:sp>
      <p:sp>
        <p:nvSpPr>
          <p:cNvPr id="12" name="TextBox 11"/>
          <p:cNvSpPr txBox="1"/>
          <p:nvPr/>
        </p:nvSpPr>
        <p:spPr>
          <a:xfrm>
            <a:off x="594360" y="2971800"/>
            <a:ext cx="2377440" cy="1371600"/>
          </a:xfrm>
          <a:prstGeom prst="rect">
            <a:avLst/>
          </a:prstGeom>
          <a:noFill/>
        </p:spPr>
        <p:txBody>
          <a:bodyPr wrap="square">
            <a:spAutoFit/>
          </a:bodyPr>
          <a:lstStyle/>
          <a:p>
            <a:pPr algn="ctr"/>
            <a:r>
              <a:rPr sz="1100" b="0" i="0">
                <a:solidFill>
                  <a:srgbClr val="CCDDEE"/>
                </a:solidFill>
              </a:rPr>
              <a:t>Collects OS, kernel, user &amp; group data</a:t>
            </a:r>
          </a:p>
        </p:txBody>
      </p:sp>
      <p:sp>
        <p:nvSpPr>
          <p:cNvPr id="13" name="Rectangle 12"/>
          <p:cNvSpPr/>
          <p:nvPr/>
        </p:nvSpPr>
        <p:spPr>
          <a:xfrm>
            <a:off x="3108960" y="2880360"/>
            <a:ext cx="274320" cy="4572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63240" y="2743200"/>
            <a:ext cx="365760" cy="365760"/>
          </a:xfrm>
          <a:prstGeom prst="rect">
            <a:avLst/>
          </a:prstGeom>
          <a:noFill/>
        </p:spPr>
        <p:txBody>
          <a:bodyPr wrap="square">
            <a:spAutoFit/>
          </a:bodyPr>
          <a:lstStyle/>
          <a:p>
            <a:pPr algn="ctr"/>
            <a:r>
              <a:rPr sz="1800" b="0" i="0">
                <a:solidFill>
                  <a:srgbClr val="00D4FF"/>
                </a:solidFill>
              </a:rPr>
              <a:t>→</a:t>
            </a:r>
          </a:p>
        </p:txBody>
      </p:sp>
      <p:sp>
        <p:nvSpPr>
          <p:cNvPr id="15" name="Rectangle 14"/>
          <p:cNvSpPr/>
          <p:nvPr/>
        </p:nvSpPr>
        <p:spPr>
          <a:xfrm>
            <a:off x="3383280" y="1371600"/>
            <a:ext cx="2651760" cy="320040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83280" y="1371600"/>
            <a:ext cx="2651760" cy="73152"/>
          </a:xfrm>
          <a:prstGeom prst="rect">
            <a:avLst/>
          </a:prstGeom>
          <a:solidFill>
            <a:srgbClr val="00F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89120" y="1508760"/>
            <a:ext cx="640080" cy="640080"/>
          </a:xfrm>
          <a:prstGeom prst="rect">
            <a:avLst/>
          </a:prstGeom>
          <a:solidFill>
            <a:srgbClr val="00F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0" y="1508760"/>
            <a:ext cx="640080" cy="640080"/>
          </a:xfrm>
          <a:prstGeom prst="rect">
            <a:avLst/>
          </a:prstGeom>
          <a:noFill/>
        </p:spPr>
        <p:txBody>
          <a:bodyPr wrap="square">
            <a:spAutoFit/>
          </a:bodyPr>
          <a:lstStyle/>
          <a:p>
            <a:pPr algn="ctr"/>
            <a:r>
              <a:rPr sz="2000" b="1" i="0">
                <a:solidFill>
                  <a:srgbClr val="0D1B2A"/>
                </a:solidFill>
              </a:rPr>
              <a:t>2</a:t>
            </a:r>
          </a:p>
        </p:txBody>
      </p:sp>
      <p:sp>
        <p:nvSpPr>
          <p:cNvPr id="19" name="TextBox 18"/>
          <p:cNvSpPr txBox="1"/>
          <p:nvPr/>
        </p:nvSpPr>
        <p:spPr>
          <a:xfrm>
            <a:off x="3520440" y="2286000"/>
            <a:ext cx="2377440" cy="640080"/>
          </a:xfrm>
          <a:prstGeom prst="rect">
            <a:avLst/>
          </a:prstGeom>
          <a:noFill/>
        </p:spPr>
        <p:txBody>
          <a:bodyPr wrap="square">
            <a:spAutoFit/>
          </a:bodyPr>
          <a:lstStyle/>
          <a:p>
            <a:pPr algn="ctr"/>
            <a:r>
              <a:rPr sz="1200" b="1" i="0">
                <a:solidFill>
                  <a:srgbClr val="00FFA3"/>
                </a:solidFill>
              </a:rPr>
              <a:t>Privilege Escalation Scanner</a:t>
            </a:r>
          </a:p>
        </p:txBody>
      </p:sp>
      <p:sp>
        <p:nvSpPr>
          <p:cNvPr id="20" name="TextBox 19"/>
          <p:cNvSpPr txBox="1"/>
          <p:nvPr/>
        </p:nvSpPr>
        <p:spPr>
          <a:xfrm>
            <a:off x="3520440" y="2971800"/>
            <a:ext cx="2377440" cy="1371600"/>
          </a:xfrm>
          <a:prstGeom prst="rect">
            <a:avLst/>
          </a:prstGeom>
          <a:noFill/>
        </p:spPr>
        <p:txBody>
          <a:bodyPr wrap="square">
            <a:spAutoFit/>
          </a:bodyPr>
          <a:lstStyle/>
          <a:p>
            <a:pPr algn="ctr"/>
            <a:r>
              <a:rPr sz="1100" b="0" i="0">
                <a:solidFill>
                  <a:srgbClr val="CCDDEE"/>
                </a:solidFill>
              </a:rPr>
              <a:t>Scans SUID, cron, sudo, file permissions</a:t>
            </a:r>
          </a:p>
        </p:txBody>
      </p:sp>
      <p:sp>
        <p:nvSpPr>
          <p:cNvPr id="21" name="Rectangle 20"/>
          <p:cNvSpPr/>
          <p:nvPr/>
        </p:nvSpPr>
        <p:spPr>
          <a:xfrm>
            <a:off x="6035040" y="2880360"/>
            <a:ext cx="274320" cy="4572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89320" y="2743200"/>
            <a:ext cx="365760" cy="365760"/>
          </a:xfrm>
          <a:prstGeom prst="rect">
            <a:avLst/>
          </a:prstGeom>
          <a:noFill/>
        </p:spPr>
        <p:txBody>
          <a:bodyPr wrap="square">
            <a:spAutoFit/>
          </a:bodyPr>
          <a:lstStyle/>
          <a:p>
            <a:pPr algn="ctr"/>
            <a:r>
              <a:rPr sz="1800" b="0" i="0">
                <a:solidFill>
                  <a:srgbClr val="00D4FF"/>
                </a:solidFill>
              </a:rPr>
              <a:t>→</a:t>
            </a:r>
          </a:p>
        </p:txBody>
      </p:sp>
      <p:sp>
        <p:nvSpPr>
          <p:cNvPr id="23" name="Rectangle 22"/>
          <p:cNvSpPr/>
          <p:nvPr/>
        </p:nvSpPr>
        <p:spPr>
          <a:xfrm>
            <a:off x="6309360" y="1371600"/>
            <a:ext cx="2651760" cy="320040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09360" y="1371600"/>
            <a:ext cx="2651760"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0" y="1508760"/>
            <a:ext cx="640080" cy="6400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0" y="1508760"/>
            <a:ext cx="640080" cy="640080"/>
          </a:xfrm>
          <a:prstGeom prst="rect">
            <a:avLst/>
          </a:prstGeom>
          <a:noFill/>
        </p:spPr>
        <p:txBody>
          <a:bodyPr wrap="square">
            <a:spAutoFit/>
          </a:bodyPr>
          <a:lstStyle/>
          <a:p>
            <a:pPr algn="ctr"/>
            <a:r>
              <a:rPr sz="2000" b="1" i="0">
                <a:solidFill>
                  <a:srgbClr val="0D1B2A"/>
                </a:solidFill>
              </a:rPr>
              <a:t>3</a:t>
            </a:r>
          </a:p>
        </p:txBody>
      </p:sp>
      <p:sp>
        <p:nvSpPr>
          <p:cNvPr id="27" name="TextBox 26"/>
          <p:cNvSpPr txBox="1"/>
          <p:nvPr/>
        </p:nvSpPr>
        <p:spPr>
          <a:xfrm>
            <a:off x="6446520" y="2286000"/>
            <a:ext cx="2377440" cy="640080"/>
          </a:xfrm>
          <a:prstGeom prst="rect">
            <a:avLst/>
          </a:prstGeom>
          <a:noFill/>
        </p:spPr>
        <p:txBody>
          <a:bodyPr wrap="square">
            <a:spAutoFit/>
          </a:bodyPr>
          <a:lstStyle/>
          <a:p>
            <a:pPr algn="ctr"/>
            <a:r>
              <a:rPr sz="1200" b="1" i="0">
                <a:solidFill>
                  <a:srgbClr val="FFA500"/>
                </a:solidFill>
              </a:rPr>
              <a:t>Analysis Engine</a:t>
            </a:r>
          </a:p>
        </p:txBody>
      </p:sp>
      <p:sp>
        <p:nvSpPr>
          <p:cNvPr id="28" name="TextBox 27"/>
          <p:cNvSpPr txBox="1"/>
          <p:nvPr/>
        </p:nvSpPr>
        <p:spPr>
          <a:xfrm>
            <a:off x="6446520" y="2971800"/>
            <a:ext cx="2377440" cy="1371600"/>
          </a:xfrm>
          <a:prstGeom prst="rect">
            <a:avLst/>
          </a:prstGeom>
          <a:noFill/>
        </p:spPr>
        <p:txBody>
          <a:bodyPr wrap="square">
            <a:spAutoFit/>
          </a:bodyPr>
          <a:lstStyle/>
          <a:p>
            <a:pPr algn="ctr"/>
            <a:r>
              <a:rPr sz="1100" b="0" i="0">
                <a:solidFill>
                  <a:srgbClr val="CCDDEE"/>
                </a:solidFill>
              </a:rPr>
              <a:t>Processes and correlates vulnerability data</a:t>
            </a:r>
          </a:p>
        </p:txBody>
      </p:sp>
      <p:sp>
        <p:nvSpPr>
          <p:cNvPr id="29" name="Rectangle 28"/>
          <p:cNvSpPr/>
          <p:nvPr/>
        </p:nvSpPr>
        <p:spPr>
          <a:xfrm>
            <a:off x="8961120" y="2880360"/>
            <a:ext cx="274320" cy="4572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5400" y="2743200"/>
            <a:ext cx="365760" cy="365760"/>
          </a:xfrm>
          <a:prstGeom prst="rect">
            <a:avLst/>
          </a:prstGeom>
          <a:noFill/>
        </p:spPr>
        <p:txBody>
          <a:bodyPr wrap="square">
            <a:spAutoFit/>
          </a:bodyPr>
          <a:lstStyle/>
          <a:p>
            <a:pPr algn="ctr"/>
            <a:r>
              <a:rPr sz="1800" b="0" i="0">
                <a:solidFill>
                  <a:srgbClr val="00D4FF"/>
                </a:solidFill>
              </a:rPr>
              <a:t>→</a:t>
            </a:r>
          </a:p>
        </p:txBody>
      </p:sp>
      <p:sp>
        <p:nvSpPr>
          <p:cNvPr id="31" name="Rectangle 30"/>
          <p:cNvSpPr/>
          <p:nvPr/>
        </p:nvSpPr>
        <p:spPr>
          <a:xfrm>
            <a:off x="9235440" y="1371600"/>
            <a:ext cx="2651760" cy="320040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235440" y="1371600"/>
            <a:ext cx="2651760" cy="73152"/>
          </a:xfrm>
          <a:prstGeom prst="rect">
            <a:avLst/>
          </a:prstGeom>
          <a:solidFill>
            <a:srgbClr val="AA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0241280" y="1508760"/>
            <a:ext cx="640080" cy="640080"/>
          </a:xfrm>
          <a:prstGeom prst="rect">
            <a:avLst/>
          </a:prstGeom>
          <a:solidFill>
            <a:srgbClr val="AA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241280" y="1508760"/>
            <a:ext cx="640080" cy="640080"/>
          </a:xfrm>
          <a:prstGeom prst="rect">
            <a:avLst/>
          </a:prstGeom>
          <a:noFill/>
        </p:spPr>
        <p:txBody>
          <a:bodyPr wrap="square">
            <a:spAutoFit/>
          </a:bodyPr>
          <a:lstStyle/>
          <a:p>
            <a:pPr algn="ctr"/>
            <a:r>
              <a:rPr sz="2000" b="1" i="0">
                <a:solidFill>
                  <a:srgbClr val="0D1B2A"/>
                </a:solidFill>
              </a:rPr>
              <a:t>4</a:t>
            </a:r>
          </a:p>
        </p:txBody>
      </p:sp>
      <p:sp>
        <p:nvSpPr>
          <p:cNvPr id="35" name="TextBox 34"/>
          <p:cNvSpPr txBox="1"/>
          <p:nvPr/>
        </p:nvSpPr>
        <p:spPr>
          <a:xfrm>
            <a:off x="9372600" y="2286000"/>
            <a:ext cx="2377440" cy="640080"/>
          </a:xfrm>
          <a:prstGeom prst="rect">
            <a:avLst/>
          </a:prstGeom>
          <a:noFill/>
        </p:spPr>
        <p:txBody>
          <a:bodyPr wrap="square">
            <a:spAutoFit/>
          </a:bodyPr>
          <a:lstStyle/>
          <a:p>
            <a:pPr algn="ctr"/>
            <a:r>
              <a:rPr sz="1200" b="1" i="0">
                <a:solidFill>
                  <a:srgbClr val="AA66FF"/>
                </a:solidFill>
              </a:rPr>
              <a:t>Report Generation Module</a:t>
            </a:r>
          </a:p>
        </p:txBody>
      </p:sp>
      <p:sp>
        <p:nvSpPr>
          <p:cNvPr id="36" name="TextBox 35"/>
          <p:cNvSpPr txBox="1"/>
          <p:nvPr/>
        </p:nvSpPr>
        <p:spPr>
          <a:xfrm>
            <a:off x="9372600" y="2971800"/>
            <a:ext cx="2377440" cy="1371600"/>
          </a:xfrm>
          <a:prstGeom prst="rect">
            <a:avLst/>
          </a:prstGeom>
          <a:noFill/>
        </p:spPr>
        <p:txBody>
          <a:bodyPr wrap="square">
            <a:spAutoFit/>
          </a:bodyPr>
          <a:lstStyle/>
          <a:p>
            <a:pPr algn="ctr"/>
            <a:r>
              <a:rPr sz="1100" b="0" i="0">
                <a:solidFill>
                  <a:srgbClr val="CCDDEE"/>
                </a:solidFill>
              </a:rPr>
              <a:t>Outputs structured security reports</a:t>
            </a:r>
          </a:p>
        </p:txBody>
      </p:sp>
      <p:sp>
        <p:nvSpPr>
          <p:cNvPr id="37" name="TextBox 36"/>
          <p:cNvSpPr txBox="1"/>
          <p:nvPr/>
        </p:nvSpPr>
        <p:spPr>
          <a:xfrm>
            <a:off x="457200" y="4800600"/>
            <a:ext cx="11247120" cy="502920"/>
          </a:xfrm>
          <a:prstGeom prst="rect">
            <a:avLst/>
          </a:prstGeom>
          <a:noFill/>
        </p:spPr>
        <p:txBody>
          <a:bodyPr wrap="square">
            <a:spAutoFit/>
          </a:bodyPr>
          <a:lstStyle/>
          <a:p>
            <a:pPr algn="ctr"/>
            <a:r>
              <a:rPr sz="1300" b="0" i="1">
                <a:solidFill>
                  <a:srgbClr val="88AACC"/>
                </a:solidFill>
              </a:rPr>
              <a:t>Each module feeds into the next, creating a seamless automated security auditing pipeline.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100584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91440"/>
            <a:ext cx="11731752" cy="640080"/>
          </a:xfrm>
          <a:prstGeom prst="rect">
            <a:avLst/>
          </a:prstGeom>
          <a:noFill/>
        </p:spPr>
        <p:txBody>
          <a:bodyPr wrap="square">
            <a:spAutoFit/>
          </a:bodyPr>
          <a:lstStyle/>
          <a:p>
            <a:pPr algn="l"/>
            <a:r>
              <a:rPr sz="2800" b="1" i="0">
                <a:solidFill>
                  <a:srgbClr val="FFFFFF"/>
                </a:solidFill>
              </a:rPr>
              <a:t>Workflow of the Toolkit</a:t>
            </a:r>
          </a:p>
        </p:txBody>
      </p:sp>
      <p:sp>
        <p:nvSpPr>
          <p:cNvPr id="5" name="TextBox 4"/>
          <p:cNvSpPr txBox="1"/>
          <p:nvPr/>
        </p:nvSpPr>
        <p:spPr>
          <a:xfrm>
            <a:off x="228600" y="658368"/>
            <a:ext cx="11731752" cy="365760"/>
          </a:xfrm>
          <a:prstGeom prst="rect">
            <a:avLst/>
          </a:prstGeom>
          <a:noFill/>
        </p:spPr>
        <p:txBody>
          <a:bodyPr wrap="square">
            <a:spAutoFit/>
          </a:bodyPr>
          <a:lstStyle/>
          <a:p>
            <a:pPr algn="l"/>
            <a:r>
              <a:rPr sz="1300" b="0" i="0">
                <a:solidFill>
                  <a:srgbClr val="00D4FF"/>
                </a:solidFill>
              </a:rPr>
              <a:t>Step-by-Step Execution Flow</a:t>
            </a:r>
          </a:p>
        </p:txBody>
      </p:sp>
      <p:sp>
        <p:nvSpPr>
          <p:cNvPr id="6" name="Rectangle 5"/>
          <p:cNvSpPr/>
          <p:nvPr/>
        </p:nvSpPr>
        <p:spPr>
          <a:xfrm>
            <a:off x="0" y="1005840"/>
            <a:ext cx="12188952"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1463040"/>
            <a:ext cx="2148840" cy="320040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914400" y="1463040"/>
            <a:ext cx="2148840"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27632" y="1645920"/>
            <a:ext cx="731520" cy="640080"/>
          </a:xfrm>
          <a:prstGeom prst="rect">
            <a:avLst/>
          </a:prstGeom>
          <a:noFill/>
        </p:spPr>
        <p:txBody>
          <a:bodyPr wrap="square">
            <a:spAutoFit/>
          </a:bodyPr>
          <a:lstStyle/>
          <a:p>
            <a:pPr algn="ctr"/>
            <a:r>
              <a:rPr sz="3000" b="0" i="0">
                <a:solidFill>
                  <a:srgbClr val="FFFFFF"/>
                </a:solidFill>
              </a:rPr>
              <a:t>📦</a:t>
            </a:r>
          </a:p>
        </p:txBody>
      </p:sp>
      <p:sp>
        <p:nvSpPr>
          <p:cNvPr id="10" name="TextBox 9"/>
          <p:cNvSpPr txBox="1"/>
          <p:nvPr/>
        </p:nvSpPr>
        <p:spPr>
          <a:xfrm>
            <a:off x="1005840" y="2377440"/>
            <a:ext cx="1965960" cy="731520"/>
          </a:xfrm>
          <a:prstGeom prst="rect">
            <a:avLst/>
          </a:prstGeom>
          <a:noFill/>
        </p:spPr>
        <p:txBody>
          <a:bodyPr wrap="square">
            <a:spAutoFit/>
          </a:bodyPr>
          <a:lstStyle/>
          <a:p>
            <a:pPr algn="ctr"/>
            <a:r>
              <a:rPr sz="1300" b="1" i="0">
                <a:solidFill>
                  <a:srgbClr val="FFFFFF"/>
                </a:solidFill>
              </a:rPr>
              <a:t>1. Collect
System Info</a:t>
            </a:r>
          </a:p>
        </p:txBody>
      </p:sp>
      <p:sp>
        <p:nvSpPr>
          <p:cNvPr id="11" name="TextBox 10"/>
          <p:cNvSpPr txBox="1"/>
          <p:nvPr/>
        </p:nvSpPr>
        <p:spPr>
          <a:xfrm>
            <a:off x="1005840" y="3154680"/>
            <a:ext cx="1965960" cy="1371600"/>
          </a:xfrm>
          <a:prstGeom prst="rect">
            <a:avLst/>
          </a:prstGeom>
          <a:noFill/>
        </p:spPr>
        <p:txBody>
          <a:bodyPr wrap="square">
            <a:spAutoFit/>
          </a:bodyPr>
          <a:lstStyle/>
          <a:p>
            <a:pPr algn="ctr"/>
            <a:r>
              <a:rPr sz="1100" b="0" i="0">
                <a:solidFill>
                  <a:srgbClr val="88AACC"/>
                </a:solidFill>
              </a:rPr>
              <a:t>Gather OS, kernel,
users, groups</a:t>
            </a:r>
          </a:p>
        </p:txBody>
      </p:sp>
      <p:sp>
        <p:nvSpPr>
          <p:cNvPr id="12" name="TextBox 11"/>
          <p:cNvSpPr txBox="1"/>
          <p:nvPr/>
        </p:nvSpPr>
        <p:spPr>
          <a:xfrm>
            <a:off x="3063240" y="2606040"/>
            <a:ext cx="502920" cy="457200"/>
          </a:xfrm>
          <a:prstGeom prst="rect">
            <a:avLst/>
          </a:prstGeom>
          <a:noFill/>
        </p:spPr>
        <p:txBody>
          <a:bodyPr wrap="square">
            <a:spAutoFit/>
          </a:bodyPr>
          <a:lstStyle/>
          <a:p>
            <a:pPr algn="ctr"/>
            <a:r>
              <a:rPr sz="2200" b="0" i="0">
                <a:solidFill>
                  <a:srgbClr val="00D4FF"/>
                </a:solidFill>
              </a:rPr>
              <a:t>➤</a:t>
            </a:r>
          </a:p>
        </p:txBody>
      </p:sp>
      <p:sp>
        <p:nvSpPr>
          <p:cNvPr id="13" name="Rectangle 12"/>
          <p:cNvSpPr/>
          <p:nvPr/>
        </p:nvSpPr>
        <p:spPr>
          <a:xfrm>
            <a:off x="3566160" y="1463040"/>
            <a:ext cx="2148840" cy="320040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66160" y="1463040"/>
            <a:ext cx="2148840"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79392" y="1645920"/>
            <a:ext cx="731520" cy="640080"/>
          </a:xfrm>
          <a:prstGeom prst="rect">
            <a:avLst/>
          </a:prstGeom>
          <a:noFill/>
        </p:spPr>
        <p:txBody>
          <a:bodyPr wrap="square">
            <a:spAutoFit/>
          </a:bodyPr>
          <a:lstStyle/>
          <a:p>
            <a:pPr algn="ctr"/>
            <a:r>
              <a:rPr sz="3000" b="0" i="0">
                <a:solidFill>
                  <a:srgbClr val="FFFFFF"/>
                </a:solidFill>
              </a:rPr>
              <a:t>🔍</a:t>
            </a:r>
          </a:p>
        </p:txBody>
      </p:sp>
      <p:sp>
        <p:nvSpPr>
          <p:cNvPr id="16" name="TextBox 15"/>
          <p:cNvSpPr txBox="1"/>
          <p:nvPr/>
        </p:nvSpPr>
        <p:spPr>
          <a:xfrm>
            <a:off x="3657600" y="2377440"/>
            <a:ext cx="1965960" cy="731520"/>
          </a:xfrm>
          <a:prstGeom prst="rect">
            <a:avLst/>
          </a:prstGeom>
          <a:noFill/>
        </p:spPr>
        <p:txBody>
          <a:bodyPr wrap="square">
            <a:spAutoFit/>
          </a:bodyPr>
          <a:lstStyle/>
          <a:p>
            <a:pPr algn="ctr"/>
            <a:r>
              <a:rPr sz="1300" b="1" i="0">
                <a:solidFill>
                  <a:srgbClr val="FFFFFF"/>
                </a:solidFill>
              </a:rPr>
              <a:t>2. Scan for
Vulnerabilities</a:t>
            </a:r>
          </a:p>
        </p:txBody>
      </p:sp>
      <p:sp>
        <p:nvSpPr>
          <p:cNvPr id="17" name="TextBox 16"/>
          <p:cNvSpPr txBox="1"/>
          <p:nvPr/>
        </p:nvSpPr>
        <p:spPr>
          <a:xfrm>
            <a:off x="3657600" y="3154680"/>
            <a:ext cx="1965960" cy="1371600"/>
          </a:xfrm>
          <a:prstGeom prst="rect">
            <a:avLst/>
          </a:prstGeom>
          <a:noFill/>
        </p:spPr>
        <p:txBody>
          <a:bodyPr wrap="square">
            <a:spAutoFit/>
          </a:bodyPr>
          <a:lstStyle/>
          <a:p>
            <a:pPr algn="ctr"/>
            <a:r>
              <a:rPr sz="1100" b="0" i="0">
                <a:solidFill>
                  <a:srgbClr val="88AACC"/>
                </a:solidFill>
              </a:rPr>
              <a:t>SUID, cron, sudo,
file permissions</a:t>
            </a:r>
          </a:p>
        </p:txBody>
      </p:sp>
      <p:sp>
        <p:nvSpPr>
          <p:cNvPr id="18" name="TextBox 17"/>
          <p:cNvSpPr txBox="1"/>
          <p:nvPr/>
        </p:nvSpPr>
        <p:spPr>
          <a:xfrm>
            <a:off x="5715000" y="2606040"/>
            <a:ext cx="502920" cy="457200"/>
          </a:xfrm>
          <a:prstGeom prst="rect">
            <a:avLst/>
          </a:prstGeom>
          <a:noFill/>
        </p:spPr>
        <p:txBody>
          <a:bodyPr wrap="square">
            <a:spAutoFit/>
          </a:bodyPr>
          <a:lstStyle/>
          <a:p>
            <a:pPr algn="ctr"/>
            <a:r>
              <a:rPr sz="2200" b="0" i="0">
                <a:solidFill>
                  <a:srgbClr val="00D4FF"/>
                </a:solidFill>
              </a:rPr>
              <a:t>➤</a:t>
            </a:r>
          </a:p>
        </p:txBody>
      </p:sp>
      <p:sp>
        <p:nvSpPr>
          <p:cNvPr id="19" name="Rectangle 18"/>
          <p:cNvSpPr/>
          <p:nvPr/>
        </p:nvSpPr>
        <p:spPr>
          <a:xfrm>
            <a:off x="6217920" y="1463040"/>
            <a:ext cx="2148840" cy="320040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1463040"/>
            <a:ext cx="2148840"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31152" y="1645920"/>
            <a:ext cx="731520" cy="640080"/>
          </a:xfrm>
          <a:prstGeom prst="rect">
            <a:avLst/>
          </a:prstGeom>
          <a:noFill/>
        </p:spPr>
        <p:txBody>
          <a:bodyPr wrap="square">
            <a:spAutoFit/>
          </a:bodyPr>
          <a:lstStyle/>
          <a:p>
            <a:pPr algn="ctr"/>
            <a:r>
              <a:rPr sz="3000" b="0" i="0">
                <a:solidFill>
                  <a:srgbClr val="FFFFFF"/>
                </a:solidFill>
              </a:rPr>
              <a:t>🧠</a:t>
            </a:r>
          </a:p>
        </p:txBody>
      </p:sp>
      <p:sp>
        <p:nvSpPr>
          <p:cNvPr id="22" name="TextBox 21"/>
          <p:cNvSpPr txBox="1"/>
          <p:nvPr/>
        </p:nvSpPr>
        <p:spPr>
          <a:xfrm>
            <a:off x="6309359" y="2377440"/>
            <a:ext cx="1965960" cy="731520"/>
          </a:xfrm>
          <a:prstGeom prst="rect">
            <a:avLst/>
          </a:prstGeom>
          <a:noFill/>
        </p:spPr>
        <p:txBody>
          <a:bodyPr wrap="square">
            <a:spAutoFit/>
          </a:bodyPr>
          <a:lstStyle/>
          <a:p>
            <a:pPr algn="ctr"/>
            <a:r>
              <a:rPr sz="1300" b="1" i="0">
                <a:solidFill>
                  <a:srgbClr val="FFFFFF"/>
                </a:solidFill>
              </a:rPr>
              <a:t>3. Analyze
Data</a:t>
            </a:r>
          </a:p>
        </p:txBody>
      </p:sp>
      <p:sp>
        <p:nvSpPr>
          <p:cNvPr id="23" name="TextBox 22"/>
          <p:cNvSpPr txBox="1"/>
          <p:nvPr/>
        </p:nvSpPr>
        <p:spPr>
          <a:xfrm>
            <a:off x="6309359" y="3154680"/>
            <a:ext cx="1965960" cy="1371600"/>
          </a:xfrm>
          <a:prstGeom prst="rect">
            <a:avLst/>
          </a:prstGeom>
          <a:noFill/>
        </p:spPr>
        <p:txBody>
          <a:bodyPr wrap="square">
            <a:spAutoFit/>
          </a:bodyPr>
          <a:lstStyle/>
          <a:p>
            <a:pPr algn="ctr"/>
            <a:r>
              <a:rPr sz="1100" b="0" i="0">
                <a:solidFill>
                  <a:srgbClr val="88AACC"/>
                </a:solidFill>
              </a:rPr>
              <a:t>Correlate and assess
risk levels</a:t>
            </a:r>
          </a:p>
        </p:txBody>
      </p:sp>
      <p:sp>
        <p:nvSpPr>
          <p:cNvPr id="24" name="TextBox 23"/>
          <p:cNvSpPr txBox="1"/>
          <p:nvPr/>
        </p:nvSpPr>
        <p:spPr>
          <a:xfrm>
            <a:off x="8366760" y="2606040"/>
            <a:ext cx="502920" cy="457200"/>
          </a:xfrm>
          <a:prstGeom prst="rect">
            <a:avLst/>
          </a:prstGeom>
          <a:noFill/>
        </p:spPr>
        <p:txBody>
          <a:bodyPr wrap="square">
            <a:spAutoFit/>
          </a:bodyPr>
          <a:lstStyle/>
          <a:p>
            <a:pPr algn="ctr"/>
            <a:r>
              <a:rPr sz="2200" b="0" i="0">
                <a:solidFill>
                  <a:srgbClr val="00D4FF"/>
                </a:solidFill>
              </a:rPr>
              <a:t>➤</a:t>
            </a:r>
          </a:p>
        </p:txBody>
      </p:sp>
      <p:sp>
        <p:nvSpPr>
          <p:cNvPr id="25" name="Rectangle 24"/>
          <p:cNvSpPr/>
          <p:nvPr/>
        </p:nvSpPr>
        <p:spPr>
          <a:xfrm>
            <a:off x="8869680" y="1463040"/>
            <a:ext cx="2148840" cy="320040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869680" y="1463040"/>
            <a:ext cx="2148840"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82911" y="1645920"/>
            <a:ext cx="731520" cy="640080"/>
          </a:xfrm>
          <a:prstGeom prst="rect">
            <a:avLst/>
          </a:prstGeom>
          <a:noFill/>
        </p:spPr>
        <p:txBody>
          <a:bodyPr wrap="square">
            <a:spAutoFit/>
          </a:bodyPr>
          <a:lstStyle/>
          <a:p>
            <a:pPr algn="ctr"/>
            <a:r>
              <a:rPr sz="3000" b="0" i="0">
                <a:solidFill>
                  <a:srgbClr val="FFFFFF"/>
                </a:solidFill>
              </a:rPr>
              <a:t>📊</a:t>
            </a:r>
          </a:p>
        </p:txBody>
      </p:sp>
      <p:sp>
        <p:nvSpPr>
          <p:cNvPr id="28" name="TextBox 27"/>
          <p:cNvSpPr txBox="1"/>
          <p:nvPr/>
        </p:nvSpPr>
        <p:spPr>
          <a:xfrm>
            <a:off x="8961119" y="2377440"/>
            <a:ext cx="1965960" cy="731520"/>
          </a:xfrm>
          <a:prstGeom prst="rect">
            <a:avLst/>
          </a:prstGeom>
          <a:noFill/>
        </p:spPr>
        <p:txBody>
          <a:bodyPr wrap="square">
            <a:spAutoFit/>
          </a:bodyPr>
          <a:lstStyle/>
          <a:p>
            <a:pPr algn="ctr"/>
            <a:r>
              <a:rPr sz="1300" b="1" i="0">
                <a:solidFill>
                  <a:srgbClr val="FFFFFF"/>
                </a:solidFill>
              </a:rPr>
              <a:t>4. Generate
Report</a:t>
            </a:r>
          </a:p>
        </p:txBody>
      </p:sp>
      <p:sp>
        <p:nvSpPr>
          <p:cNvPr id="29" name="TextBox 28"/>
          <p:cNvSpPr txBox="1"/>
          <p:nvPr/>
        </p:nvSpPr>
        <p:spPr>
          <a:xfrm>
            <a:off x="8961119" y="3154680"/>
            <a:ext cx="1965960" cy="1371600"/>
          </a:xfrm>
          <a:prstGeom prst="rect">
            <a:avLst/>
          </a:prstGeom>
          <a:noFill/>
        </p:spPr>
        <p:txBody>
          <a:bodyPr wrap="square">
            <a:spAutoFit/>
          </a:bodyPr>
          <a:lstStyle/>
          <a:p>
            <a:pPr algn="ctr"/>
            <a:r>
              <a:rPr sz="1100" b="0" i="0">
                <a:solidFill>
                  <a:srgbClr val="88AACC"/>
                </a:solidFill>
              </a:rPr>
              <a:t>Structured output
with recommendations</a:t>
            </a:r>
          </a:p>
        </p:txBody>
      </p:sp>
      <p:sp>
        <p:nvSpPr>
          <p:cNvPr id="30" name="TextBox 29"/>
          <p:cNvSpPr txBox="1"/>
          <p:nvPr/>
        </p:nvSpPr>
        <p:spPr>
          <a:xfrm>
            <a:off x="457200" y="4892040"/>
            <a:ext cx="11247120" cy="502920"/>
          </a:xfrm>
          <a:prstGeom prst="rect">
            <a:avLst/>
          </a:prstGeom>
          <a:noFill/>
        </p:spPr>
        <p:txBody>
          <a:bodyPr wrap="square">
            <a:spAutoFit/>
          </a:bodyPr>
          <a:lstStyle/>
          <a:p>
            <a:pPr algn="ctr"/>
            <a:r>
              <a:rPr sz="1300" b="1" i="0">
                <a:solidFill>
                  <a:srgbClr val="00FFA3"/>
                </a:solidFill>
              </a:rPr>
              <a:t>Automated and efficient vulnerability detection with zero manual intervention required.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100584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91440"/>
            <a:ext cx="11731752" cy="640080"/>
          </a:xfrm>
          <a:prstGeom prst="rect">
            <a:avLst/>
          </a:prstGeom>
          <a:noFill/>
        </p:spPr>
        <p:txBody>
          <a:bodyPr wrap="square">
            <a:spAutoFit/>
          </a:bodyPr>
          <a:lstStyle/>
          <a:p>
            <a:pPr algn="l"/>
            <a:r>
              <a:rPr sz="2800" b="1" i="0">
                <a:solidFill>
                  <a:srgbClr val="FFFFFF"/>
                </a:solidFill>
              </a:rPr>
              <a:t>Implementation Environment</a:t>
            </a:r>
          </a:p>
        </p:txBody>
      </p:sp>
      <p:sp>
        <p:nvSpPr>
          <p:cNvPr id="5" name="TextBox 4"/>
          <p:cNvSpPr txBox="1"/>
          <p:nvPr/>
        </p:nvSpPr>
        <p:spPr>
          <a:xfrm>
            <a:off x="228600" y="658368"/>
            <a:ext cx="11731752" cy="365760"/>
          </a:xfrm>
          <a:prstGeom prst="rect">
            <a:avLst/>
          </a:prstGeom>
          <a:noFill/>
        </p:spPr>
        <p:txBody>
          <a:bodyPr wrap="square">
            <a:spAutoFit/>
          </a:bodyPr>
          <a:lstStyle/>
          <a:p>
            <a:pPr algn="l"/>
            <a:r>
              <a:rPr sz="1300" b="0" i="0">
                <a:solidFill>
                  <a:srgbClr val="00D4FF"/>
                </a:solidFill>
              </a:rPr>
              <a:t>Controlled Testing Setup</a:t>
            </a:r>
          </a:p>
        </p:txBody>
      </p:sp>
      <p:sp>
        <p:nvSpPr>
          <p:cNvPr id="6" name="Rectangle 5"/>
          <p:cNvSpPr/>
          <p:nvPr/>
        </p:nvSpPr>
        <p:spPr>
          <a:xfrm>
            <a:off x="0" y="1005840"/>
            <a:ext cx="12188952"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34440"/>
            <a:ext cx="6858000" cy="457200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234440"/>
            <a:ext cx="6858000"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371600"/>
            <a:ext cx="6400800" cy="457200"/>
          </a:xfrm>
          <a:prstGeom prst="rect">
            <a:avLst/>
          </a:prstGeom>
          <a:noFill/>
        </p:spPr>
        <p:txBody>
          <a:bodyPr wrap="square">
            <a:spAutoFit/>
          </a:bodyPr>
          <a:lstStyle/>
          <a:p>
            <a:pPr algn="l"/>
            <a:r>
              <a:rPr sz="1600" b="1" i="0">
                <a:solidFill>
                  <a:srgbClr val="00D4FF"/>
                </a:solidFill>
              </a:rPr>
              <a:t>Environment Configuration</a:t>
            </a:r>
          </a:p>
        </p:txBody>
      </p:sp>
      <p:sp>
        <p:nvSpPr>
          <p:cNvPr id="10" name="Rectangle 9"/>
          <p:cNvSpPr/>
          <p:nvPr/>
        </p:nvSpPr>
        <p:spPr>
          <a:xfrm>
            <a:off x="548640" y="1920240"/>
            <a:ext cx="6492240" cy="576072"/>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2029968"/>
            <a:ext cx="3200400" cy="384048"/>
          </a:xfrm>
          <a:prstGeom prst="rect">
            <a:avLst/>
          </a:prstGeom>
          <a:noFill/>
        </p:spPr>
        <p:txBody>
          <a:bodyPr wrap="square">
            <a:spAutoFit/>
          </a:bodyPr>
          <a:lstStyle/>
          <a:p>
            <a:pPr algn="l"/>
            <a:r>
              <a:rPr sz="1200" b="1" i="0">
                <a:solidFill>
                  <a:srgbClr val="88AACC"/>
                </a:solidFill>
              </a:rPr>
              <a:t>Operating System:</a:t>
            </a:r>
          </a:p>
        </p:txBody>
      </p:sp>
      <p:sp>
        <p:nvSpPr>
          <p:cNvPr id="12" name="TextBox 11"/>
          <p:cNvSpPr txBox="1"/>
          <p:nvPr/>
        </p:nvSpPr>
        <p:spPr>
          <a:xfrm>
            <a:off x="3840480" y="2029968"/>
            <a:ext cx="2926080" cy="384048"/>
          </a:xfrm>
          <a:prstGeom prst="rect">
            <a:avLst/>
          </a:prstGeom>
          <a:noFill/>
        </p:spPr>
        <p:txBody>
          <a:bodyPr wrap="square">
            <a:spAutoFit/>
          </a:bodyPr>
          <a:lstStyle/>
          <a:p>
            <a:pPr algn="l"/>
            <a:r>
              <a:rPr sz="1200" b="1" i="0">
                <a:solidFill>
                  <a:srgbClr val="00FFA3"/>
                </a:solidFill>
              </a:rPr>
              <a:t>Kali Linux</a:t>
            </a:r>
          </a:p>
        </p:txBody>
      </p:sp>
      <p:sp>
        <p:nvSpPr>
          <p:cNvPr id="13" name="Rectangle 12"/>
          <p:cNvSpPr/>
          <p:nvPr/>
        </p:nvSpPr>
        <p:spPr>
          <a:xfrm>
            <a:off x="548640" y="2606040"/>
            <a:ext cx="6492240" cy="576072"/>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2715768"/>
            <a:ext cx="3200400" cy="384048"/>
          </a:xfrm>
          <a:prstGeom prst="rect">
            <a:avLst/>
          </a:prstGeom>
          <a:noFill/>
        </p:spPr>
        <p:txBody>
          <a:bodyPr wrap="square">
            <a:spAutoFit/>
          </a:bodyPr>
          <a:lstStyle/>
          <a:p>
            <a:pPr algn="l"/>
            <a:r>
              <a:rPr sz="1200" b="1" i="0">
                <a:solidFill>
                  <a:srgbClr val="88AACC"/>
                </a:solidFill>
              </a:rPr>
              <a:t>Virtualization Platform:</a:t>
            </a:r>
          </a:p>
        </p:txBody>
      </p:sp>
      <p:sp>
        <p:nvSpPr>
          <p:cNvPr id="15" name="TextBox 14"/>
          <p:cNvSpPr txBox="1"/>
          <p:nvPr/>
        </p:nvSpPr>
        <p:spPr>
          <a:xfrm>
            <a:off x="3840480" y="2715768"/>
            <a:ext cx="2926080" cy="384048"/>
          </a:xfrm>
          <a:prstGeom prst="rect">
            <a:avLst/>
          </a:prstGeom>
          <a:noFill/>
        </p:spPr>
        <p:txBody>
          <a:bodyPr wrap="square">
            <a:spAutoFit/>
          </a:bodyPr>
          <a:lstStyle/>
          <a:p>
            <a:pPr algn="l"/>
            <a:r>
              <a:rPr sz="1200" b="1" i="0">
                <a:solidFill>
                  <a:srgbClr val="00FFA3"/>
                </a:solidFill>
              </a:rPr>
              <a:t>VMware</a:t>
            </a:r>
          </a:p>
        </p:txBody>
      </p:sp>
      <p:sp>
        <p:nvSpPr>
          <p:cNvPr id="16" name="Rectangle 15"/>
          <p:cNvSpPr/>
          <p:nvPr/>
        </p:nvSpPr>
        <p:spPr>
          <a:xfrm>
            <a:off x="548640" y="3291840"/>
            <a:ext cx="6492240" cy="576072"/>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3401568"/>
            <a:ext cx="3200400" cy="384048"/>
          </a:xfrm>
          <a:prstGeom prst="rect">
            <a:avLst/>
          </a:prstGeom>
          <a:noFill/>
        </p:spPr>
        <p:txBody>
          <a:bodyPr wrap="square">
            <a:spAutoFit/>
          </a:bodyPr>
          <a:lstStyle/>
          <a:p>
            <a:pPr algn="l"/>
            <a:r>
              <a:rPr sz="1200" b="1" i="0">
                <a:solidFill>
                  <a:srgbClr val="88AACC"/>
                </a:solidFill>
              </a:rPr>
              <a:t>Execution Level:</a:t>
            </a:r>
          </a:p>
        </p:txBody>
      </p:sp>
      <p:sp>
        <p:nvSpPr>
          <p:cNvPr id="18" name="TextBox 17"/>
          <p:cNvSpPr txBox="1"/>
          <p:nvPr/>
        </p:nvSpPr>
        <p:spPr>
          <a:xfrm>
            <a:off x="3840480" y="3401568"/>
            <a:ext cx="2926080" cy="384048"/>
          </a:xfrm>
          <a:prstGeom prst="rect">
            <a:avLst/>
          </a:prstGeom>
          <a:noFill/>
        </p:spPr>
        <p:txBody>
          <a:bodyPr wrap="square">
            <a:spAutoFit/>
          </a:bodyPr>
          <a:lstStyle/>
          <a:p>
            <a:pPr algn="l"/>
            <a:r>
              <a:rPr sz="1200" b="1" i="0">
                <a:solidFill>
                  <a:srgbClr val="00FFA3"/>
                </a:solidFill>
              </a:rPr>
              <a:t>Non-root user</a:t>
            </a:r>
          </a:p>
        </p:txBody>
      </p:sp>
      <p:sp>
        <p:nvSpPr>
          <p:cNvPr id="19" name="Rectangle 18"/>
          <p:cNvSpPr/>
          <p:nvPr/>
        </p:nvSpPr>
        <p:spPr>
          <a:xfrm>
            <a:off x="548640" y="3977639"/>
            <a:ext cx="6492240" cy="576072"/>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4087368"/>
            <a:ext cx="3200400" cy="384048"/>
          </a:xfrm>
          <a:prstGeom prst="rect">
            <a:avLst/>
          </a:prstGeom>
          <a:noFill/>
        </p:spPr>
        <p:txBody>
          <a:bodyPr wrap="square">
            <a:spAutoFit/>
          </a:bodyPr>
          <a:lstStyle/>
          <a:p>
            <a:pPr algn="l"/>
            <a:r>
              <a:rPr sz="1200" b="1" i="0">
                <a:solidFill>
                  <a:srgbClr val="88AACC"/>
                </a:solidFill>
              </a:rPr>
              <a:t>Development Languages:</a:t>
            </a:r>
          </a:p>
        </p:txBody>
      </p:sp>
      <p:sp>
        <p:nvSpPr>
          <p:cNvPr id="21" name="TextBox 20"/>
          <p:cNvSpPr txBox="1"/>
          <p:nvPr/>
        </p:nvSpPr>
        <p:spPr>
          <a:xfrm>
            <a:off x="3840480" y="4087368"/>
            <a:ext cx="2926080" cy="384048"/>
          </a:xfrm>
          <a:prstGeom prst="rect">
            <a:avLst/>
          </a:prstGeom>
          <a:noFill/>
        </p:spPr>
        <p:txBody>
          <a:bodyPr wrap="square">
            <a:spAutoFit/>
          </a:bodyPr>
          <a:lstStyle/>
          <a:p>
            <a:pPr algn="l"/>
            <a:r>
              <a:rPr sz="1200" b="1" i="0">
                <a:solidFill>
                  <a:srgbClr val="00FFA3"/>
                </a:solidFill>
              </a:rPr>
              <a:t>Python and Bash</a:t>
            </a:r>
          </a:p>
        </p:txBody>
      </p:sp>
      <p:sp>
        <p:nvSpPr>
          <p:cNvPr id="22" name="Rectangle 21"/>
          <p:cNvSpPr/>
          <p:nvPr/>
        </p:nvSpPr>
        <p:spPr>
          <a:xfrm>
            <a:off x="548640" y="4663440"/>
            <a:ext cx="6492240" cy="576072"/>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773168"/>
            <a:ext cx="3200400" cy="384048"/>
          </a:xfrm>
          <a:prstGeom prst="rect">
            <a:avLst/>
          </a:prstGeom>
          <a:noFill/>
        </p:spPr>
        <p:txBody>
          <a:bodyPr wrap="square">
            <a:spAutoFit/>
          </a:bodyPr>
          <a:lstStyle/>
          <a:p>
            <a:pPr algn="l"/>
            <a:r>
              <a:rPr sz="1200" b="1" i="0">
                <a:solidFill>
                  <a:srgbClr val="88AACC"/>
                </a:solidFill>
              </a:rPr>
              <a:t>Testing Mode:</a:t>
            </a:r>
          </a:p>
        </p:txBody>
      </p:sp>
      <p:sp>
        <p:nvSpPr>
          <p:cNvPr id="24" name="TextBox 23"/>
          <p:cNvSpPr txBox="1"/>
          <p:nvPr/>
        </p:nvSpPr>
        <p:spPr>
          <a:xfrm>
            <a:off x="3840480" y="4773168"/>
            <a:ext cx="2926080" cy="384048"/>
          </a:xfrm>
          <a:prstGeom prst="rect">
            <a:avLst/>
          </a:prstGeom>
          <a:noFill/>
        </p:spPr>
        <p:txBody>
          <a:bodyPr wrap="square">
            <a:spAutoFit/>
          </a:bodyPr>
          <a:lstStyle/>
          <a:p>
            <a:pPr algn="l"/>
            <a:r>
              <a:rPr sz="1200" b="1" i="0">
                <a:solidFill>
                  <a:srgbClr val="00FFA3"/>
                </a:solidFill>
              </a:rPr>
              <a:t>Isolated VM environment</a:t>
            </a:r>
          </a:p>
        </p:txBody>
      </p:sp>
      <p:sp>
        <p:nvSpPr>
          <p:cNvPr id="25" name="Rectangle 24"/>
          <p:cNvSpPr/>
          <p:nvPr/>
        </p:nvSpPr>
        <p:spPr>
          <a:xfrm>
            <a:off x="7635240" y="1234440"/>
            <a:ext cx="4206240" cy="457200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635240" y="1234440"/>
            <a:ext cx="4206240" cy="73152"/>
          </a:xfrm>
          <a:prstGeom prst="rect">
            <a:avLst/>
          </a:prstGeom>
          <a:solidFill>
            <a:srgbClr val="00F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818120" y="1371600"/>
            <a:ext cx="3840480" cy="457200"/>
          </a:xfrm>
          <a:prstGeom prst="rect">
            <a:avLst/>
          </a:prstGeom>
          <a:noFill/>
        </p:spPr>
        <p:txBody>
          <a:bodyPr wrap="square">
            <a:spAutoFit/>
          </a:bodyPr>
          <a:lstStyle/>
          <a:p>
            <a:pPr algn="l"/>
            <a:r>
              <a:rPr sz="1600" b="1" i="0">
                <a:solidFill>
                  <a:srgbClr val="00FFA3"/>
                </a:solidFill>
              </a:rPr>
              <a:t>Why Virtual Machine?</a:t>
            </a:r>
          </a:p>
        </p:txBody>
      </p:sp>
      <p:sp>
        <p:nvSpPr>
          <p:cNvPr id="28" name="Rectangle 27"/>
          <p:cNvSpPr/>
          <p:nvPr/>
        </p:nvSpPr>
        <p:spPr>
          <a:xfrm>
            <a:off x="7818120" y="1920240"/>
            <a:ext cx="3840480" cy="548640"/>
          </a:xfrm>
          <a:prstGeom prst="rect">
            <a:avLst/>
          </a:prstGeom>
          <a:solidFill>
            <a:srgbClr val="153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55279" y="1993392"/>
            <a:ext cx="3566160" cy="411480"/>
          </a:xfrm>
          <a:prstGeom prst="rect">
            <a:avLst/>
          </a:prstGeom>
          <a:noFill/>
        </p:spPr>
        <p:txBody>
          <a:bodyPr wrap="square">
            <a:spAutoFit/>
          </a:bodyPr>
          <a:lstStyle/>
          <a:p>
            <a:pPr algn="l"/>
            <a:r>
              <a:rPr sz="1100" b="0" i="0">
                <a:solidFill>
                  <a:srgbClr val="00FFA3"/>
                </a:solidFill>
              </a:rPr>
              <a:t>✓  Safe testing without affecting real systems</a:t>
            </a:r>
          </a:p>
        </p:txBody>
      </p:sp>
      <p:sp>
        <p:nvSpPr>
          <p:cNvPr id="30" name="Rectangle 29"/>
          <p:cNvSpPr/>
          <p:nvPr/>
        </p:nvSpPr>
        <p:spPr>
          <a:xfrm>
            <a:off x="7818120" y="2578608"/>
            <a:ext cx="3840480" cy="548640"/>
          </a:xfrm>
          <a:prstGeom prst="rect">
            <a:avLst/>
          </a:prstGeom>
          <a:solidFill>
            <a:srgbClr val="153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55279" y="2651760"/>
            <a:ext cx="3566160" cy="411480"/>
          </a:xfrm>
          <a:prstGeom prst="rect">
            <a:avLst/>
          </a:prstGeom>
          <a:noFill/>
        </p:spPr>
        <p:txBody>
          <a:bodyPr wrap="square">
            <a:spAutoFit/>
          </a:bodyPr>
          <a:lstStyle/>
          <a:p>
            <a:pPr algn="l"/>
            <a:r>
              <a:rPr sz="1100" b="0" i="0">
                <a:solidFill>
                  <a:srgbClr val="00FFA3"/>
                </a:solidFill>
              </a:rPr>
              <a:t>✓  Isolated and reproducible environment</a:t>
            </a:r>
          </a:p>
        </p:txBody>
      </p:sp>
      <p:sp>
        <p:nvSpPr>
          <p:cNvPr id="32" name="Rectangle 31"/>
          <p:cNvSpPr/>
          <p:nvPr/>
        </p:nvSpPr>
        <p:spPr>
          <a:xfrm>
            <a:off x="7818120" y="3236976"/>
            <a:ext cx="3840480" cy="548640"/>
          </a:xfrm>
          <a:prstGeom prst="rect">
            <a:avLst/>
          </a:prstGeom>
          <a:solidFill>
            <a:srgbClr val="153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55279" y="3310128"/>
            <a:ext cx="3566160" cy="411480"/>
          </a:xfrm>
          <a:prstGeom prst="rect">
            <a:avLst/>
          </a:prstGeom>
          <a:noFill/>
        </p:spPr>
        <p:txBody>
          <a:bodyPr wrap="square">
            <a:spAutoFit/>
          </a:bodyPr>
          <a:lstStyle/>
          <a:p>
            <a:pPr algn="l"/>
            <a:r>
              <a:rPr sz="1100" b="0" i="0">
                <a:solidFill>
                  <a:srgbClr val="00FFA3"/>
                </a:solidFill>
              </a:rPr>
              <a:t>✓  Easy reset after each test cycle</a:t>
            </a:r>
          </a:p>
        </p:txBody>
      </p:sp>
      <p:sp>
        <p:nvSpPr>
          <p:cNvPr id="34" name="Rectangle 33"/>
          <p:cNvSpPr/>
          <p:nvPr/>
        </p:nvSpPr>
        <p:spPr>
          <a:xfrm>
            <a:off x="7818120" y="3895344"/>
            <a:ext cx="3840480" cy="548640"/>
          </a:xfrm>
          <a:prstGeom prst="rect">
            <a:avLst/>
          </a:prstGeom>
          <a:solidFill>
            <a:srgbClr val="153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55279" y="3968496"/>
            <a:ext cx="3566160" cy="411480"/>
          </a:xfrm>
          <a:prstGeom prst="rect">
            <a:avLst/>
          </a:prstGeom>
          <a:noFill/>
        </p:spPr>
        <p:txBody>
          <a:bodyPr wrap="square">
            <a:spAutoFit/>
          </a:bodyPr>
          <a:lstStyle/>
          <a:p>
            <a:pPr algn="l"/>
            <a:r>
              <a:rPr sz="1100" b="0" i="0">
                <a:solidFill>
                  <a:srgbClr val="00FFA3"/>
                </a:solidFill>
              </a:rPr>
              <a:t>✓  No risk to production infrastructure</a:t>
            </a:r>
          </a:p>
        </p:txBody>
      </p:sp>
      <p:sp>
        <p:nvSpPr>
          <p:cNvPr id="36" name="Rectangle 35"/>
          <p:cNvSpPr/>
          <p:nvPr/>
        </p:nvSpPr>
        <p:spPr>
          <a:xfrm>
            <a:off x="7818120" y="4553712"/>
            <a:ext cx="3840480" cy="548640"/>
          </a:xfrm>
          <a:prstGeom prst="rect">
            <a:avLst/>
          </a:prstGeom>
          <a:solidFill>
            <a:srgbClr val="153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55279" y="4626864"/>
            <a:ext cx="3566160" cy="411480"/>
          </a:xfrm>
          <a:prstGeom prst="rect">
            <a:avLst/>
          </a:prstGeom>
          <a:noFill/>
        </p:spPr>
        <p:txBody>
          <a:bodyPr wrap="square">
            <a:spAutoFit/>
          </a:bodyPr>
          <a:lstStyle/>
          <a:p>
            <a:pPr algn="l"/>
            <a:r>
              <a:rPr sz="1100" b="0" i="0">
                <a:solidFill>
                  <a:srgbClr val="00FFA3"/>
                </a:solidFill>
              </a:rPr>
              <a:t>✓  Simulates real-world conditions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100584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91440"/>
            <a:ext cx="11731752" cy="640080"/>
          </a:xfrm>
          <a:prstGeom prst="rect">
            <a:avLst/>
          </a:prstGeom>
          <a:noFill/>
        </p:spPr>
        <p:txBody>
          <a:bodyPr wrap="square">
            <a:spAutoFit/>
          </a:bodyPr>
          <a:lstStyle/>
          <a:p>
            <a:pPr algn="l"/>
            <a:r>
              <a:rPr sz="2800" b="1" i="0">
                <a:solidFill>
                  <a:srgbClr val="FFFFFF"/>
                </a:solidFill>
              </a:rPr>
              <a:t>System Information Collection</a:t>
            </a:r>
          </a:p>
        </p:txBody>
      </p:sp>
      <p:sp>
        <p:nvSpPr>
          <p:cNvPr id="5" name="TextBox 4"/>
          <p:cNvSpPr txBox="1"/>
          <p:nvPr/>
        </p:nvSpPr>
        <p:spPr>
          <a:xfrm>
            <a:off x="228600" y="658368"/>
            <a:ext cx="11731752" cy="365760"/>
          </a:xfrm>
          <a:prstGeom prst="rect">
            <a:avLst/>
          </a:prstGeom>
          <a:noFill/>
        </p:spPr>
        <p:txBody>
          <a:bodyPr wrap="square">
            <a:spAutoFit/>
          </a:bodyPr>
          <a:lstStyle/>
          <a:p>
            <a:pPr algn="l"/>
            <a:r>
              <a:rPr sz="1300" b="0" i="0">
                <a:solidFill>
                  <a:srgbClr val="00D4FF"/>
                </a:solidFill>
              </a:rPr>
              <a:t>Baseline Security Assessment</a:t>
            </a:r>
          </a:p>
        </p:txBody>
      </p:sp>
      <p:sp>
        <p:nvSpPr>
          <p:cNvPr id="6" name="Rectangle 5"/>
          <p:cNvSpPr/>
          <p:nvPr/>
        </p:nvSpPr>
        <p:spPr>
          <a:xfrm>
            <a:off x="0" y="1005840"/>
            <a:ext cx="12188952"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80160"/>
            <a:ext cx="3657600" cy="169164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280160"/>
            <a:ext cx="73152" cy="169164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30352" y="1508760"/>
            <a:ext cx="594360" cy="594360"/>
          </a:xfrm>
          <a:prstGeom prst="rect">
            <a:avLst/>
          </a:prstGeom>
          <a:noFill/>
        </p:spPr>
        <p:txBody>
          <a:bodyPr wrap="square">
            <a:spAutoFit/>
          </a:bodyPr>
          <a:lstStyle/>
          <a:p>
            <a:pPr algn="l"/>
            <a:r>
              <a:rPr sz="2200" b="0" i="0">
                <a:solidFill>
                  <a:srgbClr val="FFFFFF"/>
                </a:solidFill>
              </a:rPr>
              <a:t>👤</a:t>
            </a:r>
          </a:p>
        </p:txBody>
      </p:sp>
      <p:sp>
        <p:nvSpPr>
          <p:cNvPr id="10" name="TextBox 9"/>
          <p:cNvSpPr txBox="1"/>
          <p:nvPr/>
        </p:nvSpPr>
        <p:spPr>
          <a:xfrm>
            <a:off x="1234440" y="1463039"/>
            <a:ext cx="2651760" cy="411480"/>
          </a:xfrm>
          <a:prstGeom prst="rect">
            <a:avLst/>
          </a:prstGeom>
          <a:noFill/>
        </p:spPr>
        <p:txBody>
          <a:bodyPr wrap="square">
            <a:spAutoFit/>
          </a:bodyPr>
          <a:lstStyle/>
          <a:p>
            <a:pPr algn="l"/>
            <a:r>
              <a:rPr sz="1300" b="1" i="0">
                <a:solidFill>
                  <a:srgbClr val="00D4FF"/>
                </a:solidFill>
              </a:rPr>
              <a:t>Current User</a:t>
            </a:r>
          </a:p>
        </p:txBody>
      </p:sp>
      <p:sp>
        <p:nvSpPr>
          <p:cNvPr id="11" name="TextBox 10"/>
          <p:cNvSpPr txBox="1"/>
          <p:nvPr/>
        </p:nvSpPr>
        <p:spPr>
          <a:xfrm>
            <a:off x="1234440" y="1920239"/>
            <a:ext cx="2651760" cy="868680"/>
          </a:xfrm>
          <a:prstGeom prst="rect">
            <a:avLst/>
          </a:prstGeom>
          <a:noFill/>
        </p:spPr>
        <p:txBody>
          <a:bodyPr wrap="square">
            <a:spAutoFit/>
          </a:bodyPr>
          <a:lstStyle/>
          <a:p>
            <a:pPr algn="l"/>
            <a:r>
              <a:rPr sz="1100" b="0" i="0">
                <a:solidFill>
                  <a:srgbClr val="88AACC"/>
                </a:solidFill>
              </a:rPr>
              <a:t>Identifies the logged-in user and session context</a:t>
            </a:r>
          </a:p>
        </p:txBody>
      </p:sp>
      <p:sp>
        <p:nvSpPr>
          <p:cNvPr id="12" name="Rectangle 11"/>
          <p:cNvSpPr/>
          <p:nvPr/>
        </p:nvSpPr>
        <p:spPr>
          <a:xfrm>
            <a:off x="4297680" y="1280160"/>
            <a:ext cx="3657600" cy="169164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280160"/>
            <a:ext cx="73152" cy="169164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62272" y="1508760"/>
            <a:ext cx="594360" cy="594360"/>
          </a:xfrm>
          <a:prstGeom prst="rect">
            <a:avLst/>
          </a:prstGeom>
          <a:noFill/>
        </p:spPr>
        <p:txBody>
          <a:bodyPr wrap="square">
            <a:spAutoFit/>
          </a:bodyPr>
          <a:lstStyle/>
          <a:p>
            <a:pPr algn="l"/>
            <a:r>
              <a:rPr sz="2200" b="0" i="0">
                <a:solidFill>
                  <a:srgbClr val="FFFFFF"/>
                </a:solidFill>
              </a:rPr>
              <a:t>👥</a:t>
            </a:r>
          </a:p>
        </p:txBody>
      </p:sp>
      <p:sp>
        <p:nvSpPr>
          <p:cNvPr id="15" name="TextBox 14"/>
          <p:cNvSpPr txBox="1"/>
          <p:nvPr/>
        </p:nvSpPr>
        <p:spPr>
          <a:xfrm>
            <a:off x="5166360" y="1463039"/>
            <a:ext cx="2651760" cy="411480"/>
          </a:xfrm>
          <a:prstGeom prst="rect">
            <a:avLst/>
          </a:prstGeom>
          <a:noFill/>
        </p:spPr>
        <p:txBody>
          <a:bodyPr wrap="square">
            <a:spAutoFit/>
          </a:bodyPr>
          <a:lstStyle/>
          <a:p>
            <a:pPr algn="l"/>
            <a:r>
              <a:rPr sz="1300" b="1" i="0">
                <a:solidFill>
                  <a:srgbClr val="00D4FF"/>
                </a:solidFill>
              </a:rPr>
              <a:t>User Groups</a:t>
            </a:r>
          </a:p>
        </p:txBody>
      </p:sp>
      <p:sp>
        <p:nvSpPr>
          <p:cNvPr id="16" name="TextBox 15"/>
          <p:cNvSpPr txBox="1"/>
          <p:nvPr/>
        </p:nvSpPr>
        <p:spPr>
          <a:xfrm>
            <a:off x="5166360" y="1920239"/>
            <a:ext cx="2651760" cy="868680"/>
          </a:xfrm>
          <a:prstGeom prst="rect">
            <a:avLst/>
          </a:prstGeom>
          <a:noFill/>
        </p:spPr>
        <p:txBody>
          <a:bodyPr wrap="square">
            <a:spAutoFit/>
          </a:bodyPr>
          <a:lstStyle/>
          <a:p>
            <a:pPr algn="l"/>
            <a:r>
              <a:rPr sz="1100" b="0" i="0">
                <a:solidFill>
                  <a:srgbClr val="88AACC"/>
                </a:solidFill>
              </a:rPr>
              <a:t>Lists all groups the current user belongs to</a:t>
            </a:r>
          </a:p>
        </p:txBody>
      </p:sp>
      <p:sp>
        <p:nvSpPr>
          <p:cNvPr id="17" name="Rectangle 16"/>
          <p:cNvSpPr/>
          <p:nvPr/>
        </p:nvSpPr>
        <p:spPr>
          <a:xfrm>
            <a:off x="8229600" y="1280160"/>
            <a:ext cx="3657600" cy="169164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9600" y="1280160"/>
            <a:ext cx="73152" cy="169164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94192" y="1508760"/>
            <a:ext cx="594360" cy="594360"/>
          </a:xfrm>
          <a:prstGeom prst="rect">
            <a:avLst/>
          </a:prstGeom>
          <a:noFill/>
        </p:spPr>
        <p:txBody>
          <a:bodyPr wrap="square">
            <a:spAutoFit/>
          </a:bodyPr>
          <a:lstStyle/>
          <a:p>
            <a:pPr algn="l"/>
            <a:r>
              <a:rPr sz="2200" b="0" i="0">
                <a:solidFill>
                  <a:srgbClr val="FFFFFF"/>
                </a:solidFill>
              </a:rPr>
              <a:t>🐧</a:t>
            </a:r>
          </a:p>
        </p:txBody>
      </p:sp>
      <p:sp>
        <p:nvSpPr>
          <p:cNvPr id="20" name="TextBox 19"/>
          <p:cNvSpPr txBox="1"/>
          <p:nvPr/>
        </p:nvSpPr>
        <p:spPr>
          <a:xfrm>
            <a:off x="9098280" y="1463039"/>
            <a:ext cx="2651760" cy="411480"/>
          </a:xfrm>
          <a:prstGeom prst="rect">
            <a:avLst/>
          </a:prstGeom>
          <a:noFill/>
        </p:spPr>
        <p:txBody>
          <a:bodyPr wrap="square">
            <a:spAutoFit/>
          </a:bodyPr>
          <a:lstStyle/>
          <a:p>
            <a:pPr algn="l"/>
            <a:r>
              <a:rPr sz="1300" b="1" i="0">
                <a:solidFill>
                  <a:srgbClr val="00D4FF"/>
                </a:solidFill>
              </a:rPr>
              <a:t>Linux Distro</a:t>
            </a:r>
          </a:p>
        </p:txBody>
      </p:sp>
      <p:sp>
        <p:nvSpPr>
          <p:cNvPr id="21" name="TextBox 20"/>
          <p:cNvSpPr txBox="1"/>
          <p:nvPr/>
        </p:nvSpPr>
        <p:spPr>
          <a:xfrm>
            <a:off x="9098280" y="1920239"/>
            <a:ext cx="2651760" cy="868680"/>
          </a:xfrm>
          <a:prstGeom prst="rect">
            <a:avLst/>
          </a:prstGeom>
          <a:noFill/>
        </p:spPr>
        <p:txBody>
          <a:bodyPr wrap="square">
            <a:spAutoFit/>
          </a:bodyPr>
          <a:lstStyle/>
          <a:p>
            <a:pPr algn="l"/>
            <a:r>
              <a:rPr sz="1100" b="0" i="0">
                <a:solidFill>
                  <a:srgbClr val="88AACC"/>
                </a:solidFill>
              </a:rPr>
              <a:t>Detects OS distribution name and version</a:t>
            </a:r>
          </a:p>
        </p:txBody>
      </p:sp>
      <p:sp>
        <p:nvSpPr>
          <p:cNvPr id="22" name="Rectangle 21"/>
          <p:cNvSpPr/>
          <p:nvPr/>
        </p:nvSpPr>
        <p:spPr>
          <a:xfrm>
            <a:off x="365760" y="3200400"/>
            <a:ext cx="3657600" cy="169164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3200400"/>
            <a:ext cx="73152" cy="169164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0352" y="3429000"/>
            <a:ext cx="594360" cy="594360"/>
          </a:xfrm>
          <a:prstGeom prst="rect">
            <a:avLst/>
          </a:prstGeom>
          <a:noFill/>
        </p:spPr>
        <p:txBody>
          <a:bodyPr wrap="square">
            <a:spAutoFit/>
          </a:bodyPr>
          <a:lstStyle/>
          <a:p>
            <a:pPr algn="l"/>
            <a:r>
              <a:rPr sz="2200" b="0" i="0">
                <a:solidFill>
                  <a:srgbClr val="FFFFFF"/>
                </a:solidFill>
              </a:rPr>
              <a:t>🔧</a:t>
            </a:r>
          </a:p>
        </p:txBody>
      </p:sp>
      <p:sp>
        <p:nvSpPr>
          <p:cNvPr id="25" name="TextBox 24"/>
          <p:cNvSpPr txBox="1"/>
          <p:nvPr/>
        </p:nvSpPr>
        <p:spPr>
          <a:xfrm>
            <a:off x="1234440" y="3383280"/>
            <a:ext cx="2651760" cy="411480"/>
          </a:xfrm>
          <a:prstGeom prst="rect">
            <a:avLst/>
          </a:prstGeom>
          <a:noFill/>
        </p:spPr>
        <p:txBody>
          <a:bodyPr wrap="square">
            <a:spAutoFit/>
          </a:bodyPr>
          <a:lstStyle/>
          <a:p>
            <a:pPr algn="l"/>
            <a:r>
              <a:rPr sz="1300" b="1" i="0">
                <a:solidFill>
                  <a:srgbClr val="00D4FF"/>
                </a:solidFill>
              </a:rPr>
              <a:t>Kernel Version</a:t>
            </a:r>
          </a:p>
        </p:txBody>
      </p:sp>
      <p:sp>
        <p:nvSpPr>
          <p:cNvPr id="26" name="TextBox 25"/>
          <p:cNvSpPr txBox="1"/>
          <p:nvPr/>
        </p:nvSpPr>
        <p:spPr>
          <a:xfrm>
            <a:off x="1234440" y="3840480"/>
            <a:ext cx="2651760" cy="868680"/>
          </a:xfrm>
          <a:prstGeom prst="rect">
            <a:avLst/>
          </a:prstGeom>
          <a:noFill/>
        </p:spPr>
        <p:txBody>
          <a:bodyPr wrap="square">
            <a:spAutoFit/>
          </a:bodyPr>
          <a:lstStyle/>
          <a:p>
            <a:pPr algn="l"/>
            <a:r>
              <a:rPr sz="1100" b="0" i="0">
                <a:solidFill>
                  <a:srgbClr val="88AACC"/>
                </a:solidFill>
              </a:rPr>
              <a:t>Records exact kernel release for CVE comparison</a:t>
            </a:r>
          </a:p>
        </p:txBody>
      </p:sp>
      <p:sp>
        <p:nvSpPr>
          <p:cNvPr id="27" name="Rectangle 26"/>
          <p:cNvSpPr/>
          <p:nvPr/>
        </p:nvSpPr>
        <p:spPr>
          <a:xfrm>
            <a:off x="4297680" y="3200400"/>
            <a:ext cx="3657600" cy="169164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297680" y="3200400"/>
            <a:ext cx="73152" cy="169164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62272" y="3429000"/>
            <a:ext cx="594360" cy="594360"/>
          </a:xfrm>
          <a:prstGeom prst="rect">
            <a:avLst/>
          </a:prstGeom>
          <a:noFill/>
        </p:spPr>
        <p:txBody>
          <a:bodyPr wrap="square">
            <a:spAutoFit/>
          </a:bodyPr>
          <a:lstStyle/>
          <a:p>
            <a:pPr algn="l"/>
            <a:r>
              <a:rPr sz="2200" b="0" i="0">
                <a:solidFill>
                  <a:srgbClr val="FFFFFF"/>
                </a:solidFill>
              </a:rPr>
              <a:t>🔑</a:t>
            </a:r>
          </a:p>
        </p:txBody>
      </p:sp>
      <p:sp>
        <p:nvSpPr>
          <p:cNvPr id="30" name="TextBox 29"/>
          <p:cNvSpPr txBox="1"/>
          <p:nvPr/>
        </p:nvSpPr>
        <p:spPr>
          <a:xfrm>
            <a:off x="5166360" y="3383280"/>
            <a:ext cx="2651760" cy="411480"/>
          </a:xfrm>
          <a:prstGeom prst="rect">
            <a:avLst/>
          </a:prstGeom>
          <a:noFill/>
        </p:spPr>
        <p:txBody>
          <a:bodyPr wrap="square">
            <a:spAutoFit/>
          </a:bodyPr>
          <a:lstStyle/>
          <a:p>
            <a:pPr algn="l"/>
            <a:r>
              <a:rPr sz="1300" b="1" i="0">
                <a:solidFill>
                  <a:srgbClr val="00D4FF"/>
                </a:solidFill>
              </a:rPr>
              <a:t>Privilege Level</a:t>
            </a:r>
          </a:p>
        </p:txBody>
      </p:sp>
      <p:sp>
        <p:nvSpPr>
          <p:cNvPr id="31" name="TextBox 30"/>
          <p:cNvSpPr txBox="1"/>
          <p:nvPr/>
        </p:nvSpPr>
        <p:spPr>
          <a:xfrm>
            <a:off x="5166360" y="3840480"/>
            <a:ext cx="2651760" cy="868680"/>
          </a:xfrm>
          <a:prstGeom prst="rect">
            <a:avLst/>
          </a:prstGeom>
          <a:noFill/>
        </p:spPr>
        <p:txBody>
          <a:bodyPr wrap="square">
            <a:spAutoFit/>
          </a:bodyPr>
          <a:lstStyle/>
          <a:p>
            <a:pPr algn="l"/>
            <a:r>
              <a:rPr sz="1100" b="0" i="0">
                <a:solidFill>
                  <a:srgbClr val="88AACC"/>
                </a:solidFill>
              </a:rPr>
              <a:t>Determines if user has sudo or root access</a:t>
            </a:r>
          </a:p>
        </p:txBody>
      </p:sp>
      <p:sp>
        <p:nvSpPr>
          <p:cNvPr id="32" name="Rectangle 31"/>
          <p:cNvSpPr/>
          <p:nvPr/>
        </p:nvSpPr>
        <p:spPr>
          <a:xfrm>
            <a:off x="8229600" y="3200400"/>
            <a:ext cx="3657600" cy="169164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229600" y="3200400"/>
            <a:ext cx="73152" cy="169164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394192" y="3429000"/>
            <a:ext cx="594360" cy="594360"/>
          </a:xfrm>
          <a:prstGeom prst="rect">
            <a:avLst/>
          </a:prstGeom>
          <a:noFill/>
        </p:spPr>
        <p:txBody>
          <a:bodyPr wrap="square">
            <a:spAutoFit/>
          </a:bodyPr>
          <a:lstStyle/>
          <a:p>
            <a:pPr algn="l"/>
            <a:r>
              <a:rPr sz="2200" b="0" i="0">
                <a:solidFill>
                  <a:srgbClr val="FFFFFF"/>
                </a:solidFill>
              </a:rPr>
              <a:t>🌐</a:t>
            </a:r>
          </a:p>
        </p:txBody>
      </p:sp>
      <p:sp>
        <p:nvSpPr>
          <p:cNvPr id="35" name="TextBox 34"/>
          <p:cNvSpPr txBox="1"/>
          <p:nvPr/>
        </p:nvSpPr>
        <p:spPr>
          <a:xfrm>
            <a:off x="9098280" y="3383280"/>
            <a:ext cx="2651760" cy="411480"/>
          </a:xfrm>
          <a:prstGeom prst="rect">
            <a:avLst/>
          </a:prstGeom>
          <a:noFill/>
        </p:spPr>
        <p:txBody>
          <a:bodyPr wrap="square">
            <a:spAutoFit/>
          </a:bodyPr>
          <a:lstStyle/>
          <a:p>
            <a:pPr algn="l"/>
            <a:r>
              <a:rPr sz="1300" b="1" i="0">
                <a:solidFill>
                  <a:srgbClr val="00D4FF"/>
                </a:solidFill>
              </a:rPr>
              <a:t>Network Info</a:t>
            </a:r>
          </a:p>
        </p:txBody>
      </p:sp>
      <p:sp>
        <p:nvSpPr>
          <p:cNvPr id="36" name="TextBox 35"/>
          <p:cNvSpPr txBox="1"/>
          <p:nvPr/>
        </p:nvSpPr>
        <p:spPr>
          <a:xfrm>
            <a:off x="9098280" y="3840480"/>
            <a:ext cx="2651760" cy="868680"/>
          </a:xfrm>
          <a:prstGeom prst="rect">
            <a:avLst/>
          </a:prstGeom>
          <a:noFill/>
        </p:spPr>
        <p:txBody>
          <a:bodyPr wrap="square">
            <a:spAutoFit/>
          </a:bodyPr>
          <a:lstStyle/>
          <a:p>
            <a:pPr algn="l"/>
            <a:r>
              <a:rPr sz="1100" b="0" i="0">
                <a:solidFill>
                  <a:srgbClr val="88AACC"/>
                </a:solidFill>
              </a:rPr>
              <a:t>Captures active interfaces and open connections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100584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91440"/>
            <a:ext cx="11731752" cy="640080"/>
          </a:xfrm>
          <a:prstGeom prst="rect">
            <a:avLst/>
          </a:prstGeom>
          <a:noFill/>
        </p:spPr>
        <p:txBody>
          <a:bodyPr wrap="square">
            <a:spAutoFit/>
          </a:bodyPr>
          <a:lstStyle/>
          <a:p>
            <a:pPr algn="l"/>
            <a:r>
              <a:rPr sz="2800" b="1" i="0">
                <a:solidFill>
                  <a:srgbClr val="FFFFFF"/>
                </a:solidFill>
              </a:rPr>
              <a:t>SUID Binary Enumeration</a:t>
            </a:r>
          </a:p>
        </p:txBody>
      </p:sp>
      <p:sp>
        <p:nvSpPr>
          <p:cNvPr id="5" name="TextBox 4"/>
          <p:cNvSpPr txBox="1"/>
          <p:nvPr/>
        </p:nvSpPr>
        <p:spPr>
          <a:xfrm>
            <a:off x="228600" y="658368"/>
            <a:ext cx="11731752" cy="365760"/>
          </a:xfrm>
          <a:prstGeom prst="rect">
            <a:avLst/>
          </a:prstGeom>
          <a:noFill/>
        </p:spPr>
        <p:txBody>
          <a:bodyPr wrap="square">
            <a:spAutoFit/>
          </a:bodyPr>
          <a:lstStyle/>
          <a:p>
            <a:pPr algn="l"/>
            <a:r>
              <a:rPr sz="1300" b="0" i="0">
                <a:solidFill>
                  <a:srgbClr val="00D4FF"/>
                </a:solidFill>
              </a:rPr>
              <a:t>Detecting Elevated Permission Binaries</a:t>
            </a:r>
          </a:p>
        </p:txBody>
      </p:sp>
      <p:sp>
        <p:nvSpPr>
          <p:cNvPr id="6" name="Rectangle 5"/>
          <p:cNvSpPr/>
          <p:nvPr/>
        </p:nvSpPr>
        <p:spPr>
          <a:xfrm>
            <a:off x="0" y="1005840"/>
            <a:ext cx="12188952"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34440"/>
            <a:ext cx="5029200" cy="457200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234440"/>
            <a:ext cx="5029200" cy="73152"/>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71600"/>
            <a:ext cx="4663440" cy="457200"/>
          </a:xfrm>
          <a:prstGeom prst="rect">
            <a:avLst/>
          </a:prstGeom>
          <a:noFill/>
        </p:spPr>
        <p:txBody>
          <a:bodyPr wrap="square">
            <a:spAutoFit/>
          </a:bodyPr>
          <a:lstStyle/>
          <a:p>
            <a:pPr algn="l"/>
            <a:r>
              <a:rPr sz="1500" b="1" i="0">
                <a:solidFill>
                  <a:srgbClr val="FF4D4D"/>
                </a:solidFill>
              </a:rPr>
              <a:t>What are SUID Binaries?</a:t>
            </a:r>
          </a:p>
        </p:txBody>
      </p:sp>
      <p:sp>
        <p:nvSpPr>
          <p:cNvPr id="10" name="TextBox 9"/>
          <p:cNvSpPr txBox="1"/>
          <p:nvPr/>
        </p:nvSpPr>
        <p:spPr>
          <a:xfrm>
            <a:off x="548640" y="1920240"/>
            <a:ext cx="4663440" cy="2286000"/>
          </a:xfrm>
          <a:prstGeom prst="rect">
            <a:avLst/>
          </a:prstGeom>
          <a:noFill/>
        </p:spPr>
        <p:txBody>
          <a:bodyPr wrap="square">
            <a:spAutoFit/>
          </a:bodyPr>
          <a:lstStyle/>
          <a:p>
            <a:pPr algn="l"/>
            <a:r>
              <a:rPr sz="1200" b="0" i="0">
                <a:solidFill>
                  <a:srgbClr val="CCDDEE"/>
                </a:solidFill>
              </a:rPr>
              <a:t>SUID (Set User ID) binaries allow programs to execute with the privileges of the file owner rather than the user running them.
If misconfigured, attackers can leverage these to execute arbitrary commands as root.</a:t>
            </a:r>
          </a:p>
        </p:txBody>
      </p:sp>
      <p:sp>
        <p:nvSpPr>
          <p:cNvPr id="11" name="TextBox 10"/>
          <p:cNvSpPr txBox="1"/>
          <p:nvPr/>
        </p:nvSpPr>
        <p:spPr>
          <a:xfrm>
            <a:off x="548640" y="3657600"/>
            <a:ext cx="4663440" cy="365760"/>
          </a:xfrm>
          <a:prstGeom prst="rect">
            <a:avLst/>
          </a:prstGeom>
          <a:noFill/>
        </p:spPr>
        <p:txBody>
          <a:bodyPr wrap="square">
            <a:spAutoFit/>
          </a:bodyPr>
          <a:lstStyle/>
          <a:p>
            <a:pPr algn="l"/>
            <a:r>
              <a:rPr sz="1200" b="1" i="0">
                <a:solidFill>
                  <a:srgbClr val="00D4FF"/>
                </a:solidFill>
              </a:rPr>
              <a:t>Detection Command:</a:t>
            </a:r>
          </a:p>
        </p:txBody>
      </p:sp>
      <p:sp>
        <p:nvSpPr>
          <p:cNvPr id="12" name="Rectangle 11"/>
          <p:cNvSpPr/>
          <p:nvPr/>
        </p:nvSpPr>
        <p:spPr>
          <a:xfrm>
            <a:off x="548640" y="4069080"/>
            <a:ext cx="4663440" cy="502920"/>
          </a:xfrm>
          <a:prstGeom prst="rect">
            <a:avLst/>
          </a:prstGeom>
          <a:solidFill>
            <a:srgbClr val="08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4114800"/>
            <a:ext cx="4389120" cy="411480"/>
          </a:xfrm>
          <a:prstGeom prst="rect">
            <a:avLst/>
          </a:prstGeom>
          <a:noFill/>
        </p:spPr>
        <p:txBody>
          <a:bodyPr wrap="square">
            <a:spAutoFit/>
          </a:bodyPr>
          <a:lstStyle/>
          <a:p>
            <a:pPr algn="l"/>
            <a:r>
              <a:rPr sz="1100" b="1" i="0">
                <a:solidFill>
                  <a:srgbClr val="00FFA3"/>
                </a:solidFill>
              </a:rPr>
              <a:t>find / -perm -u=s -type f 2&gt;/dev/null</a:t>
            </a:r>
          </a:p>
        </p:txBody>
      </p:sp>
      <p:sp>
        <p:nvSpPr>
          <p:cNvPr id="14" name="Rectangle 13"/>
          <p:cNvSpPr/>
          <p:nvPr/>
        </p:nvSpPr>
        <p:spPr>
          <a:xfrm>
            <a:off x="5760720" y="1234440"/>
            <a:ext cx="5943600" cy="457200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760720" y="1234440"/>
            <a:ext cx="5943600"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0" y="1371600"/>
            <a:ext cx="5577840" cy="457200"/>
          </a:xfrm>
          <a:prstGeom prst="rect">
            <a:avLst/>
          </a:prstGeom>
          <a:noFill/>
        </p:spPr>
        <p:txBody>
          <a:bodyPr wrap="square">
            <a:spAutoFit/>
          </a:bodyPr>
          <a:lstStyle/>
          <a:p>
            <a:pPr algn="l"/>
            <a:r>
              <a:rPr sz="1500" b="1" i="0">
                <a:solidFill>
                  <a:srgbClr val="00D4FF"/>
                </a:solidFill>
              </a:rPr>
              <a:t>Risk Assessment</a:t>
            </a:r>
          </a:p>
        </p:txBody>
      </p:sp>
      <p:sp>
        <p:nvSpPr>
          <p:cNvPr id="17" name="Rectangle 16"/>
          <p:cNvSpPr/>
          <p:nvPr/>
        </p:nvSpPr>
        <p:spPr>
          <a:xfrm>
            <a:off x="5943600" y="1920240"/>
            <a:ext cx="5577840" cy="109728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080760" y="2011680"/>
            <a:ext cx="5303520" cy="365760"/>
          </a:xfrm>
          <a:prstGeom prst="rect">
            <a:avLst/>
          </a:prstGeom>
          <a:noFill/>
        </p:spPr>
        <p:txBody>
          <a:bodyPr wrap="square">
            <a:spAutoFit/>
          </a:bodyPr>
          <a:lstStyle/>
          <a:p>
            <a:pPr algn="l"/>
            <a:r>
              <a:rPr sz="1200" b="1" i="0">
                <a:solidFill>
                  <a:srgbClr val="FF4D4D"/>
                </a:solidFill>
              </a:rPr>
              <a:t>🔴 HIGH RISK</a:t>
            </a:r>
          </a:p>
        </p:txBody>
      </p:sp>
      <p:sp>
        <p:nvSpPr>
          <p:cNvPr id="19" name="TextBox 18"/>
          <p:cNvSpPr txBox="1"/>
          <p:nvPr/>
        </p:nvSpPr>
        <p:spPr>
          <a:xfrm>
            <a:off x="6080760" y="2423160"/>
            <a:ext cx="5303520" cy="530352"/>
          </a:xfrm>
          <a:prstGeom prst="rect">
            <a:avLst/>
          </a:prstGeom>
          <a:noFill/>
        </p:spPr>
        <p:txBody>
          <a:bodyPr wrap="square">
            <a:spAutoFit/>
          </a:bodyPr>
          <a:lstStyle/>
          <a:p>
            <a:pPr algn="l"/>
            <a:r>
              <a:rPr sz="1100" b="0" i="0">
                <a:solidFill>
                  <a:srgbClr val="CCDDEE"/>
                </a:solidFill>
              </a:rPr>
              <a:t>Common targets: /usr/bin/passwd, /bin/ping, /usr/bin/sudo</a:t>
            </a:r>
          </a:p>
        </p:txBody>
      </p:sp>
      <p:sp>
        <p:nvSpPr>
          <p:cNvPr id="20" name="Rectangle 19"/>
          <p:cNvSpPr/>
          <p:nvPr/>
        </p:nvSpPr>
        <p:spPr>
          <a:xfrm>
            <a:off x="5943600" y="3200400"/>
            <a:ext cx="5577840" cy="109728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80760" y="3291840"/>
            <a:ext cx="5303520" cy="365760"/>
          </a:xfrm>
          <a:prstGeom prst="rect">
            <a:avLst/>
          </a:prstGeom>
          <a:noFill/>
        </p:spPr>
        <p:txBody>
          <a:bodyPr wrap="square">
            <a:spAutoFit/>
          </a:bodyPr>
          <a:lstStyle/>
          <a:p>
            <a:pPr algn="l"/>
            <a:r>
              <a:rPr sz="1200" b="1" i="0">
                <a:solidFill>
                  <a:srgbClr val="FFA500"/>
                </a:solidFill>
              </a:rPr>
              <a:t>🟠 EXPLOIT PATH</a:t>
            </a:r>
          </a:p>
        </p:txBody>
      </p:sp>
      <p:sp>
        <p:nvSpPr>
          <p:cNvPr id="22" name="TextBox 21"/>
          <p:cNvSpPr txBox="1"/>
          <p:nvPr/>
        </p:nvSpPr>
        <p:spPr>
          <a:xfrm>
            <a:off x="6080760" y="3703320"/>
            <a:ext cx="5303520" cy="530352"/>
          </a:xfrm>
          <a:prstGeom prst="rect">
            <a:avLst/>
          </a:prstGeom>
          <a:noFill/>
        </p:spPr>
        <p:txBody>
          <a:bodyPr wrap="square">
            <a:spAutoFit/>
          </a:bodyPr>
          <a:lstStyle/>
          <a:p>
            <a:pPr algn="l"/>
            <a:r>
              <a:rPr sz="1100" b="0" i="0">
                <a:solidFill>
                  <a:srgbClr val="CCDDEE"/>
                </a:solidFill>
              </a:rPr>
              <a:t>Attacker uses SUID binary to spawn shell as root</a:t>
            </a:r>
          </a:p>
        </p:txBody>
      </p:sp>
      <p:sp>
        <p:nvSpPr>
          <p:cNvPr id="23" name="Rectangle 22"/>
          <p:cNvSpPr/>
          <p:nvPr/>
        </p:nvSpPr>
        <p:spPr>
          <a:xfrm>
            <a:off x="5943600" y="4480560"/>
            <a:ext cx="5577840" cy="109728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80760" y="4572000"/>
            <a:ext cx="5303520" cy="365760"/>
          </a:xfrm>
          <a:prstGeom prst="rect">
            <a:avLst/>
          </a:prstGeom>
          <a:noFill/>
        </p:spPr>
        <p:txBody>
          <a:bodyPr wrap="square">
            <a:spAutoFit/>
          </a:bodyPr>
          <a:lstStyle/>
          <a:p>
            <a:pPr algn="l"/>
            <a:r>
              <a:rPr sz="1200" b="1" i="0">
                <a:solidFill>
                  <a:srgbClr val="00FFA3"/>
                </a:solidFill>
              </a:rPr>
              <a:t>✅ MITIGATION</a:t>
            </a:r>
          </a:p>
        </p:txBody>
      </p:sp>
      <p:sp>
        <p:nvSpPr>
          <p:cNvPr id="25" name="TextBox 24"/>
          <p:cNvSpPr txBox="1"/>
          <p:nvPr/>
        </p:nvSpPr>
        <p:spPr>
          <a:xfrm>
            <a:off x="6080760" y="4983480"/>
            <a:ext cx="5303520" cy="530352"/>
          </a:xfrm>
          <a:prstGeom prst="rect">
            <a:avLst/>
          </a:prstGeom>
          <a:noFill/>
        </p:spPr>
        <p:txBody>
          <a:bodyPr wrap="square">
            <a:spAutoFit/>
          </a:bodyPr>
          <a:lstStyle/>
          <a:p>
            <a:pPr algn="l"/>
            <a:r>
              <a:rPr sz="1100" b="0" i="0">
                <a:solidFill>
                  <a:srgbClr val="CCDDEE"/>
                </a:solidFill>
              </a:rPr>
              <a:t>Remove SUID bit from non-essential binaries using chmod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100584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91440"/>
            <a:ext cx="11731752" cy="640080"/>
          </a:xfrm>
          <a:prstGeom prst="rect">
            <a:avLst/>
          </a:prstGeom>
          <a:noFill/>
        </p:spPr>
        <p:txBody>
          <a:bodyPr wrap="square">
            <a:spAutoFit/>
          </a:bodyPr>
          <a:lstStyle/>
          <a:p>
            <a:pPr algn="l"/>
            <a:r>
              <a:rPr sz="2800" b="1" i="0">
                <a:solidFill>
                  <a:srgbClr val="FFFFFF"/>
                </a:solidFill>
              </a:rPr>
              <a:t>Cron Job Enumeration</a:t>
            </a:r>
          </a:p>
        </p:txBody>
      </p:sp>
      <p:sp>
        <p:nvSpPr>
          <p:cNvPr id="5" name="TextBox 4"/>
          <p:cNvSpPr txBox="1"/>
          <p:nvPr/>
        </p:nvSpPr>
        <p:spPr>
          <a:xfrm>
            <a:off x="228600" y="658368"/>
            <a:ext cx="11731752" cy="365760"/>
          </a:xfrm>
          <a:prstGeom prst="rect">
            <a:avLst/>
          </a:prstGeom>
          <a:noFill/>
        </p:spPr>
        <p:txBody>
          <a:bodyPr wrap="square">
            <a:spAutoFit/>
          </a:bodyPr>
          <a:lstStyle/>
          <a:p>
            <a:pPr algn="l"/>
            <a:r>
              <a:rPr sz="1300" b="0" i="0">
                <a:solidFill>
                  <a:srgbClr val="00D4FF"/>
                </a:solidFill>
              </a:rPr>
              <a:t>Identifying Scheduled Task Vulnerabilities</a:t>
            </a:r>
          </a:p>
        </p:txBody>
      </p:sp>
      <p:sp>
        <p:nvSpPr>
          <p:cNvPr id="6" name="Rectangle 5"/>
          <p:cNvSpPr/>
          <p:nvPr/>
        </p:nvSpPr>
        <p:spPr>
          <a:xfrm>
            <a:off x="0" y="1005840"/>
            <a:ext cx="12188952"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34440"/>
            <a:ext cx="11430000" cy="137160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234440"/>
            <a:ext cx="11430000" cy="73152"/>
          </a:xfrm>
          <a:prstGeom prst="rect">
            <a:avLst/>
          </a:prstGeom>
          <a:solidFill>
            <a:srgbClr val="00F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417320"/>
            <a:ext cx="10972800" cy="640080"/>
          </a:xfrm>
          <a:prstGeom prst="rect">
            <a:avLst/>
          </a:prstGeom>
          <a:noFill/>
        </p:spPr>
        <p:txBody>
          <a:bodyPr wrap="square">
            <a:spAutoFit/>
          </a:bodyPr>
          <a:lstStyle/>
          <a:p>
            <a:pPr algn="l"/>
            <a:r>
              <a:rPr sz="1300" b="0" i="0">
                <a:solidFill>
                  <a:srgbClr val="CCDDEE"/>
                </a:solidFill>
              </a:rPr>
              <a:t>Cron jobs are scheduled tasks executed automatically by the system — often with root privileges.</a:t>
            </a:r>
          </a:p>
        </p:txBody>
      </p:sp>
      <p:sp>
        <p:nvSpPr>
          <p:cNvPr id="10" name="Rectangle 9"/>
          <p:cNvSpPr/>
          <p:nvPr/>
        </p:nvSpPr>
        <p:spPr>
          <a:xfrm>
            <a:off x="365760" y="2788920"/>
            <a:ext cx="3657600" cy="29260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2788920"/>
            <a:ext cx="3657600"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971800"/>
            <a:ext cx="594360" cy="594360"/>
          </a:xfrm>
          <a:prstGeom prst="rect">
            <a:avLst/>
          </a:prstGeom>
          <a:noFill/>
        </p:spPr>
        <p:txBody>
          <a:bodyPr wrap="square">
            <a:spAutoFit/>
          </a:bodyPr>
          <a:lstStyle/>
          <a:p>
            <a:pPr algn="l"/>
            <a:r>
              <a:rPr sz="2600" b="0" i="0">
                <a:solidFill>
                  <a:srgbClr val="FFFFFF"/>
                </a:solidFill>
              </a:rPr>
              <a:t>📋</a:t>
            </a:r>
          </a:p>
        </p:txBody>
      </p:sp>
      <p:sp>
        <p:nvSpPr>
          <p:cNvPr id="13" name="TextBox 12"/>
          <p:cNvSpPr txBox="1"/>
          <p:nvPr/>
        </p:nvSpPr>
        <p:spPr>
          <a:xfrm>
            <a:off x="502920" y="3611879"/>
            <a:ext cx="3383280" cy="411480"/>
          </a:xfrm>
          <a:prstGeom prst="rect">
            <a:avLst/>
          </a:prstGeom>
          <a:noFill/>
        </p:spPr>
        <p:txBody>
          <a:bodyPr wrap="square">
            <a:spAutoFit/>
          </a:bodyPr>
          <a:lstStyle/>
          <a:p>
            <a:pPr algn="l"/>
            <a:r>
              <a:rPr sz="1300" b="1" i="0">
                <a:solidFill>
                  <a:srgbClr val="FFA500"/>
                </a:solidFill>
              </a:rPr>
              <a:t>System Cron Jobs</a:t>
            </a:r>
          </a:p>
        </p:txBody>
      </p:sp>
      <p:sp>
        <p:nvSpPr>
          <p:cNvPr id="14" name="Rectangle 13"/>
          <p:cNvSpPr/>
          <p:nvPr/>
        </p:nvSpPr>
        <p:spPr>
          <a:xfrm>
            <a:off x="502920" y="4069079"/>
            <a:ext cx="3383280" cy="411480"/>
          </a:xfrm>
          <a:prstGeom prst="rect">
            <a:avLst/>
          </a:prstGeom>
          <a:solidFill>
            <a:srgbClr val="08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4114800"/>
            <a:ext cx="3200400" cy="347472"/>
          </a:xfrm>
          <a:prstGeom prst="rect">
            <a:avLst/>
          </a:prstGeom>
          <a:noFill/>
        </p:spPr>
        <p:txBody>
          <a:bodyPr wrap="square">
            <a:spAutoFit/>
          </a:bodyPr>
          <a:lstStyle/>
          <a:p>
            <a:pPr algn="l"/>
            <a:r>
              <a:rPr sz="1000" b="1" i="0">
                <a:solidFill>
                  <a:srgbClr val="00FFA3"/>
                </a:solidFill>
              </a:rPr>
              <a:t>/etc/crontab, /etc/cron.d/*</a:t>
            </a:r>
          </a:p>
        </p:txBody>
      </p:sp>
      <p:sp>
        <p:nvSpPr>
          <p:cNvPr id="16" name="TextBox 15"/>
          <p:cNvSpPr txBox="1"/>
          <p:nvPr/>
        </p:nvSpPr>
        <p:spPr>
          <a:xfrm>
            <a:off x="502920" y="4572000"/>
            <a:ext cx="3383280" cy="1005840"/>
          </a:xfrm>
          <a:prstGeom prst="rect">
            <a:avLst/>
          </a:prstGeom>
          <a:noFill/>
        </p:spPr>
        <p:txBody>
          <a:bodyPr wrap="square">
            <a:spAutoFit/>
          </a:bodyPr>
          <a:lstStyle/>
          <a:p>
            <a:pPr algn="l"/>
            <a:r>
              <a:rPr sz="1100" b="0" i="0">
                <a:solidFill>
                  <a:srgbClr val="88AACC"/>
                </a:solidFill>
              </a:rPr>
              <a:t>Scans all system-wide scheduled tasks for misconfigured permissions or writable scripts</a:t>
            </a:r>
          </a:p>
        </p:txBody>
      </p:sp>
      <p:sp>
        <p:nvSpPr>
          <p:cNvPr id="17" name="Rectangle 16"/>
          <p:cNvSpPr/>
          <p:nvPr/>
        </p:nvSpPr>
        <p:spPr>
          <a:xfrm>
            <a:off x="4297680" y="2788920"/>
            <a:ext cx="3657600" cy="29260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97680" y="2788920"/>
            <a:ext cx="3657600"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2971800"/>
            <a:ext cx="594360" cy="594360"/>
          </a:xfrm>
          <a:prstGeom prst="rect">
            <a:avLst/>
          </a:prstGeom>
          <a:noFill/>
        </p:spPr>
        <p:txBody>
          <a:bodyPr wrap="square">
            <a:spAutoFit/>
          </a:bodyPr>
          <a:lstStyle/>
          <a:p>
            <a:pPr algn="l"/>
            <a:r>
              <a:rPr sz="2600" b="0" i="0">
                <a:solidFill>
                  <a:srgbClr val="FFFFFF"/>
                </a:solidFill>
              </a:rPr>
              <a:t>✍️</a:t>
            </a:r>
          </a:p>
        </p:txBody>
      </p:sp>
      <p:sp>
        <p:nvSpPr>
          <p:cNvPr id="20" name="TextBox 19"/>
          <p:cNvSpPr txBox="1"/>
          <p:nvPr/>
        </p:nvSpPr>
        <p:spPr>
          <a:xfrm>
            <a:off x="4434840" y="3611879"/>
            <a:ext cx="3383280" cy="411480"/>
          </a:xfrm>
          <a:prstGeom prst="rect">
            <a:avLst/>
          </a:prstGeom>
          <a:noFill/>
        </p:spPr>
        <p:txBody>
          <a:bodyPr wrap="square">
            <a:spAutoFit/>
          </a:bodyPr>
          <a:lstStyle/>
          <a:p>
            <a:pPr algn="l"/>
            <a:r>
              <a:rPr sz="1300" b="1" i="0">
                <a:solidFill>
                  <a:srgbClr val="FFA500"/>
                </a:solidFill>
              </a:rPr>
              <a:t>Writable Cron Scripts</a:t>
            </a:r>
          </a:p>
        </p:txBody>
      </p:sp>
      <p:sp>
        <p:nvSpPr>
          <p:cNvPr id="21" name="Rectangle 20"/>
          <p:cNvSpPr/>
          <p:nvPr/>
        </p:nvSpPr>
        <p:spPr>
          <a:xfrm>
            <a:off x="4434840" y="4069079"/>
            <a:ext cx="3383280" cy="411480"/>
          </a:xfrm>
          <a:prstGeom prst="rect">
            <a:avLst/>
          </a:prstGeom>
          <a:solidFill>
            <a:srgbClr val="08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26280" y="4114800"/>
            <a:ext cx="3200400" cy="347472"/>
          </a:xfrm>
          <a:prstGeom prst="rect">
            <a:avLst/>
          </a:prstGeom>
          <a:noFill/>
        </p:spPr>
        <p:txBody>
          <a:bodyPr wrap="square">
            <a:spAutoFit/>
          </a:bodyPr>
          <a:lstStyle/>
          <a:p>
            <a:pPr algn="l"/>
            <a:r>
              <a:rPr sz="1000" b="1" i="0">
                <a:solidFill>
                  <a:srgbClr val="00FFA3"/>
                </a:solidFill>
              </a:rPr>
              <a:t>find -perm -o+w</a:t>
            </a:r>
          </a:p>
        </p:txBody>
      </p:sp>
      <p:sp>
        <p:nvSpPr>
          <p:cNvPr id="23" name="TextBox 22"/>
          <p:cNvSpPr txBox="1"/>
          <p:nvPr/>
        </p:nvSpPr>
        <p:spPr>
          <a:xfrm>
            <a:off x="4434840" y="4572000"/>
            <a:ext cx="3383280" cy="1005840"/>
          </a:xfrm>
          <a:prstGeom prst="rect">
            <a:avLst/>
          </a:prstGeom>
          <a:noFill/>
        </p:spPr>
        <p:txBody>
          <a:bodyPr wrap="square">
            <a:spAutoFit/>
          </a:bodyPr>
          <a:lstStyle/>
          <a:p>
            <a:pPr algn="l"/>
            <a:r>
              <a:rPr sz="1100" b="0" i="0">
                <a:solidFill>
                  <a:srgbClr val="88AACC"/>
                </a:solidFill>
              </a:rPr>
              <a:t>Identifies cron-executed scripts that can be modified by low-privilege users</a:t>
            </a:r>
          </a:p>
        </p:txBody>
      </p:sp>
      <p:sp>
        <p:nvSpPr>
          <p:cNvPr id="24" name="Rectangle 23"/>
          <p:cNvSpPr/>
          <p:nvPr/>
        </p:nvSpPr>
        <p:spPr>
          <a:xfrm>
            <a:off x="8229600" y="2788920"/>
            <a:ext cx="3657600" cy="29260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9600" y="2788920"/>
            <a:ext cx="3657600"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66760" y="2971800"/>
            <a:ext cx="594360" cy="594360"/>
          </a:xfrm>
          <a:prstGeom prst="rect">
            <a:avLst/>
          </a:prstGeom>
          <a:noFill/>
        </p:spPr>
        <p:txBody>
          <a:bodyPr wrap="square">
            <a:spAutoFit/>
          </a:bodyPr>
          <a:lstStyle/>
          <a:p>
            <a:pPr algn="l"/>
            <a:r>
              <a:rPr sz="2600" b="0" i="0">
                <a:solidFill>
                  <a:srgbClr val="FFFFFF"/>
                </a:solidFill>
              </a:rPr>
              <a:t>👑</a:t>
            </a:r>
          </a:p>
        </p:txBody>
      </p:sp>
      <p:sp>
        <p:nvSpPr>
          <p:cNvPr id="27" name="TextBox 26"/>
          <p:cNvSpPr txBox="1"/>
          <p:nvPr/>
        </p:nvSpPr>
        <p:spPr>
          <a:xfrm>
            <a:off x="8366760" y="3611879"/>
            <a:ext cx="3383280" cy="411480"/>
          </a:xfrm>
          <a:prstGeom prst="rect">
            <a:avLst/>
          </a:prstGeom>
          <a:noFill/>
        </p:spPr>
        <p:txBody>
          <a:bodyPr wrap="square">
            <a:spAutoFit/>
          </a:bodyPr>
          <a:lstStyle/>
          <a:p>
            <a:pPr algn="l"/>
            <a:r>
              <a:rPr sz="1300" b="1" i="0">
                <a:solidFill>
                  <a:srgbClr val="FFA500"/>
                </a:solidFill>
              </a:rPr>
              <a:t>Root Privilege Crons</a:t>
            </a:r>
          </a:p>
        </p:txBody>
      </p:sp>
      <p:sp>
        <p:nvSpPr>
          <p:cNvPr id="28" name="Rectangle 27"/>
          <p:cNvSpPr/>
          <p:nvPr/>
        </p:nvSpPr>
        <p:spPr>
          <a:xfrm>
            <a:off x="8366760" y="4069079"/>
            <a:ext cx="3383280" cy="411480"/>
          </a:xfrm>
          <a:prstGeom prst="rect">
            <a:avLst/>
          </a:prstGeom>
          <a:solidFill>
            <a:srgbClr val="08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58200" y="4114800"/>
            <a:ext cx="3200400" cy="347472"/>
          </a:xfrm>
          <a:prstGeom prst="rect">
            <a:avLst/>
          </a:prstGeom>
          <a:noFill/>
        </p:spPr>
        <p:txBody>
          <a:bodyPr wrap="square">
            <a:spAutoFit/>
          </a:bodyPr>
          <a:lstStyle/>
          <a:p>
            <a:pPr algn="l"/>
            <a:r>
              <a:rPr sz="1000" b="1" i="0">
                <a:solidFill>
                  <a:srgbClr val="00FFA3"/>
                </a:solidFill>
              </a:rPr>
              <a:t>cron user context analysis</a:t>
            </a:r>
          </a:p>
        </p:txBody>
      </p:sp>
      <p:sp>
        <p:nvSpPr>
          <p:cNvPr id="30" name="TextBox 29"/>
          <p:cNvSpPr txBox="1"/>
          <p:nvPr/>
        </p:nvSpPr>
        <p:spPr>
          <a:xfrm>
            <a:off x="8366760" y="4572000"/>
            <a:ext cx="3383280" cy="1005840"/>
          </a:xfrm>
          <a:prstGeom prst="rect">
            <a:avLst/>
          </a:prstGeom>
          <a:noFill/>
        </p:spPr>
        <p:txBody>
          <a:bodyPr wrap="square">
            <a:spAutoFit/>
          </a:bodyPr>
          <a:lstStyle/>
          <a:p>
            <a:pPr algn="l"/>
            <a:r>
              <a:rPr sz="1100" b="0" i="0">
                <a:solidFill>
                  <a:srgbClr val="88AACC"/>
                </a:solidFill>
              </a:rPr>
              <a:t>Detects cron jobs running as root that could be hijacked for privilege escalation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100584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91440"/>
            <a:ext cx="11731752" cy="640080"/>
          </a:xfrm>
          <a:prstGeom prst="rect">
            <a:avLst/>
          </a:prstGeom>
          <a:noFill/>
        </p:spPr>
        <p:txBody>
          <a:bodyPr wrap="square">
            <a:spAutoFit/>
          </a:bodyPr>
          <a:lstStyle/>
          <a:p>
            <a:pPr algn="l"/>
            <a:r>
              <a:rPr sz="2800" b="1" i="0">
                <a:solidFill>
                  <a:srgbClr val="FFFFFF"/>
                </a:solidFill>
              </a:rPr>
              <a:t>Sudo Privilege Analysis</a:t>
            </a:r>
          </a:p>
        </p:txBody>
      </p:sp>
      <p:sp>
        <p:nvSpPr>
          <p:cNvPr id="5" name="TextBox 4"/>
          <p:cNvSpPr txBox="1"/>
          <p:nvPr/>
        </p:nvSpPr>
        <p:spPr>
          <a:xfrm>
            <a:off x="228600" y="658368"/>
            <a:ext cx="11731752" cy="365760"/>
          </a:xfrm>
          <a:prstGeom prst="rect">
            <a:avLst/>
          </a:prstGeom>
          <a:noFill/>
        </p:spPr>
        <p:txBody>
          <a:bodyPr wrap="square">
            <a:spAutoFit/>
          </a:bodyPr>
          <a:lstStyle/>
          <a:p>
            <a:pPr algn="l"/>
            <a:r>
              <a:rPr sz="1300" b="0" i="0">
                <a:solidFill>
                  <a:srgbClr val="00D4FF"/>
                </a:solidFill>
              </a:rPr>
              <a:t>Detecting Misconfigured Sudo Rules</a:t>
            </a:r>
          </a:p>
        </p:txBody>
      </p:sp>
      <p:sp>
        <p:nvSpPr>
          <p:cNvPr id="6" name="Rectangle 5"/>
          <p:cNvSpPr/>
          <p:nvPr/>
        </p:nvSpPr>
        <p:spPr>
          <a:xfrm>
            <a:off x="0" y="1005840"/>
            <a:ext cx="12188952"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200400" y="1325880"/>
            <a:ext cx="5760720" cy="685800"/>
          </a:xfrm>
          <a:prstGeom prst="rect">
            <a:avLst/>
          </a:prstGeom>
          <a:solidFill>
            <a:srgbClr val="08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200400" y="1325880"/>
            <a:ext cx="73152" cy="6858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29000" y="1417320"/>
            <a:ext cx="5303520" cy="502920"/>
          </a:xfrm>
          <a:prstGeom prst="rect">
            <a:avLst/>
          </a:prstGeom>
          <a:noFill/>
        </p:spPr>
        <p:txBody>
          <a:bodyPr wrap="square">
            <a:spAutoFit/>
          </a:bodyPr>
          <a:lstStyle/>
          <a:p>
            <a:pPr algn="l"/>
            <a:r>
              <a:rPr sz="1800" b="1" i="0">
                <a:solidFill>
                  <a:srgbClr val="00FFA3"/>
                </a:solidFill>
              </a:rPr>
              <a:t>$ sudo -l</a:t>
            </a:r>
          </a:p>
        </p:txBody>
      </p:sp>
      <p:sp>
        <p:nvSpPr>
          <p:cNvPr id="10" name="Rectangle 9"/>
          <p:cNvSpPr/>
          <p:nvPr/>
        </p:nvSpPr>
        <p:spPr>
          <a:xfrm>
            <a:off x="457200" y="2194560"/>
            <a:ext cx="5486400" cy="17830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194560"/>
            <a:ext cx="5486400"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377440"/>
            <a:ext cx="594360" cy="594360"/>
          </a:xfrm>
          <a:prstGeom prst="rect">
            <a:avLst/>
          </a:prstGeom>
          <a:noFill/>
        </p:spPr>
        <p:txBody>
          <a:bodyPr wrap="square">
            <a:spAutoFit/>
          </a:bodyPr>
          <a:lstStyle/>
          <a:p>
            <a:pPr algn="l"/>
            <a:r>
              <a:rPr sz="2200" b="0" i="0">
                <a:solidFill>
                  <a:srgbClr val="FFFFFF"/>
                </a:solidFill>
              </a:rPr>
              <a:t>🔓</a:t>
            </a:r>
          </a:p>
        </p:txBody>
      </p:sp>
      <p:sp>
        <p:nvSpPr>
          <p:cNvPr id="13" name="TextBox 12"/>
          <p:cNvSpPr txBox="1"/>
          <p:nvPr/>
        </p:nvSpPr>
        <p:spPr>
          <a:xfrm>
            <a:off x="1280160" y="2331720"/>
            <a:ext cx="4480560" cy="411480"/>
          </a:xfrm>
          <a:prstGeom prst="rect">
            <a:avLst/>
          </a:prstGeom>
          <a:noFill/>
        </p:spPr>
        <p:txBody>
          <a:bodyPr wrap="square">
            <a:spAutoFit/>
          </a:bodyPr>
          <a:lstStyle/>
          <a:p>
            <a:pPr algn="l"/>
            <a:r>
              <a:rPr sz="1300" b="1" i="0">
                <a:solidFill>
                  <a:srgbClr val="FFA500"/>
                </a:solidFill>
              </a:rPr>
              <a:t>Excessive Privileges</a:t>
            </a:r>
          </a:p>
        </p:txBody>
      </p:sp>
      <p:sp>
        <p:nvSpPr>
          <p:cNvPr id="14" name="TextBox 13"/>
          <p:cNvSpPr txBox="1"/>
          <p:nvPr/>
        </p:nvSpPr>
        <p:spPr>
          <a:xfrm>
            <a:off x="1280160" y="2743200"/>
            <a:ext cx="4480560" cy="1051560"/>
          </a:xfrm>
          <a:prstGeom prst="rect">
            <a:avLst/>
          </a:prstGeom>
          <a:noFill/>
        </p:spPr>
        <p:txBody>
          <a:bodyPr wrap="square">
            <a:spAutoFit/>
          </a:bodyPr>
          <a:lstStyle/>
          <a:p>
            <a:pPr algn="l"/>
            <a:r>
              <a:rPr sz="1100" b="0" i="0">
                <a:solidFill>
                  <a:srgbClr val="88AACC"/>
                </a:solidFill>
              </a:rPr>
              <a:t>Users granted sudo access to commands beyond their role requirements, creating unnecessary attack surface.</a:t>
            </a:r>
          </a:p>
        </p:txBody>
      </p:sp>
      <p:sp>
        <p:nvSpPr>
          <p:cNvPr id="15" name="Rectangle 14"/>
          <p:cNvSpPr/>
          <p:nvPr/>
        </p:nvSpPr>
        <p:spPr>
          <a:xfrm>
            <a:off x="6217920" y="2194560"/>
            <a:ext cx="5486400" cy="17830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17920" y="2194560"/>
            <a:ext cx="5486400"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2377440"/>
            <a:ext cx="594360" cy="594360"/>
          </a:xfrm>
          <a:prstGeom prst="rect">
            <a:avLst/>
          </a:prstGeom>
          <a:noFill/>
        </p:spPr>
        <p:txBody>
          <a:bodyPr wrap="square">
            <a:spAutoFit/>
          </a:bodyPr>
          <a:lstStyle/>
          <a:p>
            <a:pPr algn="l"/>
            <a:r>
              <a:rPr sz="2200" b="0" i="0">
                <a:solidFill>
                  <a:srgbClr val="FFFFFF"/>
                </a:solidFill>
              </a:rPr>
              <a:t>🔑</a:t>
            </a:r>
          </a:p>
        </p:txBody>
      </p:sp>
      <p:sp>
        <p:nvSpPr>
          <p:cNvPr id="18" name="TextBox 17"/>
          <p:cNvSpPr txBox="1"/>
          <p:nvPr/>
        </p:nvSpPr>
        <p:spPr>
          <a:xfrm>
            <a:off x="7040880" y="2331720"/>
            <a:ext cx="4480560" cy="411480"/>
          </a:xfrm>
          <a:prstGeom prst="rect">
            <a:avLst/>
          </a:prstGeom>
          <a:noFill/>
        </p:spPr>
        <p:txBody>
          <a:bodyPr wrap="square">
            <a:spAutoFit/>
          </a:bodyPr>
          <a:lstStyle/>
          <a:p>
            <a:pPr algn="l"/>
            <a:r>
              <a:rPr sz="1300" b="1" i="0">
                <a:solidFill>
                  <a:srgbClr val="FFA500"/>
                </a:solidFill>
              </a:rPr>
              <a:t>Password-less Commands</a:t>
            </a:r>
          </a:p>
        </p:txBody>
      </p:sp>
      <p:sp>
        <p:nvSpPr>
          <p:cNvPr id="19" name="TextBox 18"/>
          <p:cNvSpPr txBox="1"/>
          <p:nvPr/>
        </p:nvSpPr>
        <p:spPr>
          <a:xfrm>
            <a:off x="7040880" y="2743200"/>
            <a:ext cx="4480560" cy="1051560"/>
          </a:xfrm>
          <a:prstGeom prst="rect">
            <a:avLst/>
          </a:prstGeom>
          <a:noFill/>
        </p:spPr>
        <p:txBody>
          <a:bodyPr wrap="square">
            <a:spAutoFit/>
          </a:bodyPr>
          <a:lstStyle/>
          <a:p>
            <a:pPr algn="l"/>
            <a:r>
              <a:rPr sz="1100" b="0" i="0">
                <a:solidFill>
                  <a:srgbClr val="88AACC"/>
                </a:solidFill>
              </a:rPr>
              <a:t>Commands configured with NOPASSWD allow execution without authentication, bypassing security controls.</a:t>
            </a:r>
          </a:p>
        </p:txBody>
      </p:sp>
      <p:sp>
        <p:nvSpPr>
          <p:cNvPr id="20" name="Rectangle 19"/>
          <p:cNvSpPr/>
          <p:nvPr/>
        </p:nvSpPr>
        <p:spPr>
          <a:xfrm>
            <a:off x="457200" y="4206240"/>
            <a:ext cx="5486400" cy="17830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206240"/>
            <a:ext cx="5486400"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4389120"/>
            <a:ext cx="594360" cy="594360"/>
          </a:xfrm>
          <a:prstGeom prst="rect">
            <a:avLst/>
          </a:prstGeom>
          <a:noFill/>
        </p:spPr>
        <p:txBody>
          <a:bodyPr wrap="square">
            <a:spAutoFit/>
          </a:bodyPr>
          <a:lstStyle/>
          <a:p>
            <a:pPr algn="l"/>
            <a:r>
              <a:rPr sz="2200" b="0" i="0">
                <a:solidFill>
                  <a:srgbClr val="FFFFFF"/>
                </a:solidFill>
              </a:rPr>
              <a:t>⚙️</a:t>
            </a:r>
          </a:p>
        </p:txBody>
      </p:sp>
      <p:sp>
        <p:nvSpPr>
          <p:cNvPr id="23" name="TextBox 22"/>
          <p:cNvSpPr txBox="1"/>
          <p:nvPr/>
        </p:nvSpPr>
        <p:spPr>
          <a:xfrm>
            <a:off x="1280160" y="4343400"/>
            <a:ext cx="4480560" cy="411480"/>
          </a:xfrm>
          <a:prstGeom prst="rect">
            <a:avLst/>
          </a:prstGeom>
          <a:noFill/>
        </p:spPr>
        <p:txBody>
          <a:bodyPr wrap="square">
            <a:spAutoFit/>
          </a:bodyPr>
          <a:lstStyle/>
          <a:p>
            <a:pPr algn="l"/>
            <a:r>
              <a:rPr sz="1300" b="1" i="0">
                <a:solidFill>
                  <a:srgbClr val="FFA500"/>
                </a:solidFill>
              </a:rPr>
              <a:t>Misconfigured Rules</a:t>
            </a:r>
          </a:p>
        </p:txBody>
      </p:sp>
      <p:sp>
        <p:nvSpPr>
          <p:cNvPr id="24" name="TextBox 23"/>
          <p:cNvSpPr txBox="1"/>
          <p:nvPr/>
        </p:nvSpPr>
        <p:spPr>
          <a:xfrm>
            <a:off x="1280160" y="4754879"/>
            <a:ext cx="4480560" cy="1051560"/>
          </a:xfrm>
          <a:prstGeom prst="rect">
            <a:avLst/>
          </a:prstGeom>
          <a:noFill/>
        </p:spPr>
        <p:txBody>
          <a:bodyPr wrap="square">
            <a:spAutoFit/>
          </a:bodyPr>
          <a:lstStyle/>
          <a:p>
            <a:pPr algn="l"/>
            <a:r>
              <a:rPr sz="1100" b="0" i="0">
                <a:solidFill>
                  <a:srgbClr val="88AACC"/>
                </a:solidFill>
              </a:rPr>
              <a:t>Overly permissive sudoers entries like ALL=(ALL) NOPASSWD:ALL give complete system control.</a:t>
            </a:r>
          </a:p>
        </p:txBody>
      </p:sp>
      <p:sp>
        <p:nvSpPr>
          <p:cNvPr id="25" name="Rectangle 24"/>
          <p:cNvSpPr/>
          <p:nvPr/>
        </p:nvSpPr>
        <p:spPr>
          <a:xfrm>
            <a:off x="6217920" y="4206240"/>
            <a:ext cx="5486400" cy="17830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17920" y="4206240"/>
            <a:ext cx="5486400"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55080" y="4389120"/>
            <a:ext cx="594360" cy="594360"/>
          </a:xfrm>
          <a:prstGeom prst="rect">
            <a:avLst/>
          </a:prstGeom>
          <a:noFill/>
        </p:spPr>
        <p:txBody>
          <a:bodyPr wrap="square">
            <a:spAutoFit/>
          </a:bodyPr>
          <a:lstStyle/>
          <a:p>
            <a:pPr algn="l"/>
            <a:r>
              <a:rPr sz="2200" b="0" i="0">
                <a:solidFill>
                  <a:srgbClr val="FFFFFF"/>
                </a:solidFill>
              </a:rPr>
              <a:t>📝</a:t>
            </a:r>
          </a:p>
        </p:txBody>
      </p:sp>
      <p:sp>
        <p:nvSpPr>
          <p:cNvPr id="28" name="TextBox 27"/>
          <p:cNvSpPr txBox="1"/>
          <p:nvPr/>
        </p:nvSpPr>
        <p:spPr>
          <a:xfrm>
            <a:off x="7040880" y="4343400"/>
            <a:ext cx="4480560" cy="411480"/>
          </a:xfrm>
          <a:prstGeom prst="rect">
            <a:avLst/>
          </a:prstGeom>
          <a:noFill/>
        </p:spPr>
        <p:txBody>
          <a:bodyPr wrap="square">
            <a:spAutoFit/>
          </a:bodyPr>
          <a:lstStyle/>
          <a:p>
            <a:pPr algn="l"/>
            <a:r>
              <a:rPr sz="1300" b="1" i="0">
                <a:solidFill>
                  <a:srgbClr val="FFA500"/>
                </a:solidFill>
              </a:rPr>
              <a:t>Writable Sudoers</a:t>
            </a:r>
          </a:p>
        </p:txBody>
      </p:sp>
      <p:sp>
        <p:nvSpPr>
          <p:cNvPr id="29" name="TextBox 28"/>
          <p:cNvSpPr txBox="1"/>
          <p:nvPr/>
        </p:nvSpPr>
        <p:spPr>
          <a:xfrm>
            <a:off x="7040880" y="4754879"/>
            <a:ext cx="4480560" cy="1051560"/>
          </a:xfrm>
          <a:prstGeom prst="rect">
            <a:avLst/>
          </a:prstGeom>
          <a:noFill/>
        </p:spPr>
        <p:txBody>
          <a:bodyPr wrap="square">
            <a:spAutoFit/>
          </a:bodyPr>
          <a:lstStyle/>
          <a:p>
            <a:pPr algn="l"/>
            <a:r>
              <a:rPr sz="1100" b="0" i="0">
                <a:solidFill>
                  <a:srgbClr val="88AACC"/>
                </a:solidFill>
              </a:rPr>
              <a:t>If /etc/sudoers is writable, attackers can inject their own privilege escalation rules.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100584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91440"/>
            <a:ext cx="11731752" cy="640080"/>
          </a:xfrm>
          <a:prstGeom prst="rect">
            <a:avLst/>
          </a:prstGeom>
          <a:noFill/>
        </p:spPr>
        <p:txBody>
          <a:bodyPr wrap="square">
            <a:spAutoFit/>
          </a:bodyPr>
          <a:lstStyle/>
          <a:p>
            <a:pPr algn="l"/>
            <a:r>
              <a:rPr sz="2800" b="1" i="0">
                <a:solidFill>
                  <a:srgbClr val="FFFFFF"/>
                </a:solidFill>
              </a:rPr>
              <a:t>Kernel Version Detection</a:t>
            </a:r>
          </a:p>
        </p:txBody>
      </p:sp>
      <p:sp>
        <p:nvSpPr>
          <p:cNvPr id="5" name="TextBox 4"/>
          <p:cNvSpPr txBox="1"/>
          <p:nvPr/>
        </p:nvSpPr>
        <p:spPr>
          <a:xfrm>
            <a:off x="228600" y="658368"/>
            <a:ext cx="11731752" cy="365760"/>
          </a:xfrm>
          <a:prstGeom prst="rect">
            <a:avLst/>
          </a:prstGeom>
          <a:noFill/>
        </p:spPr>
        <p:txBody>
          <a:bodyPr wrap="square">
            <a:spAutoFit/>
          </a:bodyPr>
          <a:lstStyle/>
          <a:p>
            <a:pPr algn="l"/>
            <a:r>
              <a:rPr sz="1300" b="0" i="0">
                <a:solidFill>
                  <a:srgbClr val="00D4FF"/>
                </a:solidFill>
              </a:rPr>
              <a:t>Identifying Unpatched Vulnerabilities</a:t>
            </a:r>
          </a:p>
        </p:txBody>
      </p:sp>
      <p:sp>
        <p:nvSpPr>
          <p:cNvPr id="6" name="Rectangle 5"/>
          <p:cNvSpPr/>
          <p:nvPr/>
        </p:nvSpPr>
        <p:spPr>
          <a:xfrm>
            <a:off x="0" y="1005840"/>
            <a:ext cx="12188952"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74720" y="1325880"/>
            <a:ext cx="5212080" cy="685800"/>
          </a:xfrm>
          <a:prstGeom prst="rect">
            <a:avLst/>
          </a:prstGeom>
          <a:solidFill>
            <a:srgbClr val="08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474720" y="1325880"/>
            <a:ext cx="73152" cy="68580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03320" y="1417320"/>
            <a:ext cx="4937760" cy="502920"/>
          </a:xfrm>
          <a:prstGeom prst="rect">
            <a:avLst/>
          </a:prstGeom>
          <a:noFill/>
        </p:spPr>
        <p:txBody>
          <a:bodyPr wrap="square">
            <a:spAutoFit/>
          </a:bodyPr>
          <a:lstStyle/>
          <a:p>
            <a:pPr algn="l"/>
            <a:r>
              <a:rPr sz="1800" b="1" i="0">
                <a:solidFill>
                  <a:srgbClr val="00FFA3"/>
                </a:solidFill>
              </a:rPr>
              <a:t>$ uname -a</a:t>
            </a:r>
          </a:p>
        </p:txBody>
      </p:sp>
      <p:sp>
        <p:nvSpPr>
          <p:cNvPr id="10" name="Rectangle 9"/>
          <p:cNvSpPr/>
          <p:nvPr/>
        </p:nvSpPr>
        <p:spPr>
          <a:xfrm>
            <a:off x="365760" y="2194560"/>
            <a:ext cx="5394960" cy="365760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2194560"/>
            <a:ext cx="5394960" cy="73152"/>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331720"/>
            <a:ext cx="4937760" cy="457200"/>
          </a:xfrm>
          <a:prstGeom prst="rect">
            <a:avLst/>
          </a:prstGeom>
          <a:noFill/>
        </p:spPr>
        <p:txBody>
          <a:bodyPr wrap="square">
            <a:spAutoFit/>
          </a:bodyPr>
          <a:lstStyle/>
          <a:p>
            <a:pPr algn="l"/>
            <a:r>
              <a:rPr sz="1500" b="1" i="0">
                <a:solidFill>
                  <a:srgbClr val="FF4D4D"/>
                </a:solidFill>
              </a:rPr>
              <a:t>Why Kernel Version Matters</a:t>
            </a:r>
          </a:p>
        </p:txBody>
      </p:sp>
      <p:sp>
        <p:nvSpPr>
          <p:cNvPr id="13" name="Rectangle 12"/>
          <p:cNvSpPr/>
          <p:nvPr/>
        </p:nvSpPr>
        <p:spPr>
          <a:xfrm>
            <a:off x="548640" y="2880360"/>
            <a:ext cx="5029200" cy="457200"/>
          </a:xfrm>
          <a:prstGeom prst="rect">
            <a:avLst/>
          </a:prstGeom>
          <a:solidFill>
            <a:srgbClr val="1E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935224"/>
            <a:ext cx="4754880" cy="347472"/>
          </a:xfrm>
          <a:prstGeom prst="rect">
            <a:avLst/>
          </a:prstGeom>
          <a:noFill/>
        </p:spPr>
        <p:txBody>
          <a:bodyPr wrap="square">
            <a:spAutoFit/>
          </a:bodyPr>
          <a:lstStyle/>
          <a:p>
            <a:pPr algn="l"/>
            <a:r>
              <a:rPr sz="1100" b="0" i="0">
                <a:solidFill>
                  <a:srgbClr val="CCDDEE"/>
                </a:solidFill>
              </a:rPr>
              <a:t>⚡  Outdated kernels contain known CVE vulnerabilities</a:t>
            </a:r>
          </a:p>
        </p:txBody>
      </p:sp>
      <p:sp>
        <p:nvSpPr>
          <p:cNvPr id="15" name="Rectangle 14"/>
          <p:cNvSpPr/>
          <p:nvPr/>
        </p:nvSpPr>
        <p:spPr>
          <a:xfrm>
            <a:off x="548640" y="3410712"/>
            <a:ext cx="5029200" cy="457200"/>
          </a:xfrm>
          <a:prstGeom prst="rect">
            <a:avLst/>
          </a:prstGeom>
          <a:solidFill>
            <a:srgbClr val="1E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465576"/>
            <a:ext cx="4754880" cy="347472"/>
          </a:xfrm>
          <a:prstGeom prst="rect">
            <a:avLst/>
          </a:prstGeom>
          <a:noFill/>
        </p:spPr>
        <p:txBody>
          <a:bodyPr wrap="square">
            <a:spAutoFit/>
          </a:bodyPr>
          <a:lstStyle/>
          <a:p>
            <a:pPr algn="l"/>
            <a:r>
              <a:rPr sz="1100" b="0" i="0">
                <a:solidFill>
                  <a:srgbClr val="CCDDEE"/>
                </a:solidFill>
              </a:rPr>
              <a:t>⚡  Exploits like DirtyCow (CVE-2016-5195) target old kernels</a:t>
            </a:r>
          </a:p>
        </p:txBody>
      </p:sp>
      <p:sp>
        <p:nvSpPr>
          <p:cNvPr id="17" name="Rectangle 16"/>
          <p:cNvSpPr/>
          <p:nvPr/>
        </p:nvSpPr>
        <p:spPr>
          <a:xfrm>
            <a:off x="548640" y="3941063"/>
            <a:ext cx="5029200" cy="457200"/>
          </a:xfrm>
          <a:prstGeom prst="rect">
            <a:avLst/>
          </a:prstGeom>
          <a:solidFill>
            <a:srgbClr val="1E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995928"/>
            <a:ext cx="4754880" cy="347472"/>
          </a:xfrm>
          <a:prstGeom prst="rect">
            <a:avLst/>
          </a:prstGeom>
          <a:noFill/>
        </p:spPr>
        <p:txBody>
          <a:bodyPr wrap="square">
            <a:spAutoFit/>
          </a:bodyPr>
          <a:lstStyle/>
          <a:p>
            <a:pPr algn="l"/>
            <a:r>
              <a:rPr sz="1100" b="0" i="0">
                <a:solidFill>
                  <a:srgbClr val="CCDDEE"/>
                </a:solidFill>
              </a:rPr>
              <a:t>⚡  Kernel exploits can bypass all userspace security</a:t>
            </a:r>
          </a:p>
        </p:txBody>
      </p:sp>
      <p:sp>
        <p:nvSpPr>
          <p:cNvPr id="19" name="Rectangle 18"/>
          <p:cNvSpPr/>
          <p:nvPr/>
        </p:nvSpPr>
        <p:spPr>
          <a:xfrm>
            <a:off x="548640" y="4471416"/>
            <a:ext cx="5029200" cy="457200"/>
          </a:xfrm>
          <a:prstGeom prst="rect">
            <a:avLst/>
          </a:prstGeom>
          <a:solidFill>
            <a:srgbClr val="1E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4526279"/>
            <a:ext cx="4754880" cy="347472"/>
          </a:xfrm>
          <a:prstGeom prst="rect">
            <a:avLst/>
          </a:prstGeom>
          <a:noFill/>
        </p:spPr>
        <p:txBody>
          <a:bodyPr wrap="square">
            <a:spAutoFit/>
          </a:bodyPr>
          <a:lstStyle/>
          <a:p>
            <a:pPr algn="l"/>
            <a:r>
              <a:rPr sz="1100" b="0" i="0">
                <a:solidFill>
                  <a:srgbClr val="CCDDEE"/>
                </a:solidFill>
              </a:rPr>
              <a:t>⚡  Critical to compare against current stable release</a:t>
            </a:r>
          </a:p>
        </p:txBody>
      </p:sp>
      <p:sp>
        <p:nvSpPr>
          <p:cNvPr id="21" name="Rectangle 20"/>
          <p:cNvSpPr/>
          <p:nvPr/>
        </p:nvSpPr>
        <p:spPr>
          <a:xfrm>
            <a:off x="548640" y="5001768"/>
            <a:ext cx="5029200" cy="457200"/>
          </a:xfrm>
          <a:prstGeom prst="rect">
            <a:avLst/>
          </a:prstGeom>
          <a:solidFill>
            <a:srgbClr val="1E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5056631"/>
            <a:ext cx="4754880" cy="347472"/>
          </a:xfrm>
          <a:prstGeom prst="rect">
            <a:avLst/>
          </a:prstGeom>
          <a:noFill/>
        </p:spPr>
        <p:txBody>
          <a:bodyPr wrap="square">
            <a:spAutoFit/>
          </a:bodyPr>
          <a:lstStyle/>
          <a:p>
            <a:pPr algn="l"/>
            <a:r>
              <a:rPr sz="1100" b="0" i="0">
                <a:solidFill>
                  <a:srgbClr val="CCDDEE"/>
                </a:solidFill>
              </a:rPr>
              <a:t>⚡  Patch management is the #1 defense strategy</a:t>
            </a:r>
          </a:p>
        </p:txBody>
      </p:sp>
      <p:sp>
        <p:nvSpPr>
          <p:cNvPr id="23" name="Rectangle 22"/>
          <p:cNvSpPr/>
          <p:nvPr/>
        </p:nvSpPr>
        <p:spPr>
          <a:xfrm>
            <a:off x="6126480" y="2194560"/>
            <a:ext cx="5486400" cy="365760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26480" y="2194560"/>
            <a:ext cx="5486400"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5080" y="2331720"/>
            <a:ext cx="5029200" cy="457200"/>
          </a:xfrm>
          <a:prstGeom prst="rect">
            <a:avLst/>
          </a:prstGeom>
          <a:noFill/>
        </p:spPr>
        <p:txBody>
          <a:bodyPr wrap="square">
            <a:spAutoFit/>
          </a:bodyPr>
          <a:lstStyle/>
          <a:p>
            <a:pPr algn="l"/>
            <a:r>
              <a:rPr sz="1500" b="1" i="0">
                <a:solidFill>
                  <a:srgbClr val="00D4FF"/>
                </a:solidFill>
              </a:rPr>
              <a:t>Famous Kernel Exploits</a:t>
            </a:r>
          </a:p>
        </p:txBody>
      </p:sp>
      <p:sp>
        <p:nvSpPr>
          <p:cNvPr id="26" name="Rectangle 25"/>
          <p:cNvSpPr/>
          <p:nvPr/>
        </p:nvSpPr>
        <p:spPr>
          <a:xfrm>
            <a:off x="6309360" y="2834640"/>
            <a:ext cx="5120640" cy="64008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2880360"/>
            <a:ext cx="1828800" cy="292608"/>
          </a:xfrm>
          <a:prstGeom prst="rect">
            <a:avLst/>
          </a:prstGeom>
          <a:noFill/>
        </p:spPr>
        <p:txBody>
          <a:bodyPr wrap="square">
            <a:spAutoFit/>
          </a:bodyPr>
          <a:lstStyle/>
          <a:p>
            <a:pPr algn="l"/>
            <a:r>
              <a:rPr sz="1100" b="1" i="0">
                <a:solidFill>
                  <a:srgbClr val="FF4D4D"/>
                </a:solidFill>
              </a:rPr>
              <a:t>DirtyCow</a:t>
            </a:r>
          </a:p>
        </p:txBody>
      </p:sp>
      <p:sp>
        <p:nvSpPr>
          <p:cNvPr id="28" name="TextBox 27"/>
          <p:cNvSpPr txBox="1"/>
          <p:nvPr/>
        </p:nvSpPr>
        <p:spPr>
          <a:xfrm>
            <a:off x="8138160" y="2880360"/>
            <a:ext cx="1645920" cy="292608"/>
          </a:xfrm>
          <a:prstGeom prst="rect">
            <a:avLst/>
          </a:prstGeom>
          <a:noFill/>
        </p:spPr>
        <p:txBody>
          <a:bodyPr wrap="square">
            <a:spAutoFit/>
          </a:bodyPr>
          <a:lstStyle/>
          <a:p>
            <a:pPr algn="l"/>
            <a:r>
              <a:rPr sz="1000" b="0" i="0">
                <a:solidFill>
                  <a:srgbClr val="FFA500"/>
                </a:solidFill>
              </a:rPr>
              <a:t>CVE-2016-5195</a:t>
            </a:r>
          </a:p>
        </p:txBody>
      </p:sp>
      <p:sp>
        <p:nvSpPr>
          <p:cNvPr id="29" name="TextBox 28"/>
          <p:cNvSpPr txBox="1"/>
          <p:nvPr/>
        </p:nvSpPr>
        <p:spPr>
          <a:xfrm>
            <a:off x="6446520" y="3182112"/>
            <a:ext cx="4846320" cy="274320"/>
          </a:xfrm>
          <a:prstGeom prst="rect">
            <a:avLst/>
          </a:prstGeom>
          <a:noFill/>
        </p:spPr>
        <p:txBody>
          <a:bodyPr wrap="square">
            <a:spAutoFit/>
          </a:bodyPr>
          <a:lstStyle/>
          <a:p>
            <a:pPr algn="l"/>
            <a:r>
              <a:rPr sz="1000" b="0" i="0">
                <a:solidFill>
                  <a:srgbClr val="88AACC"/>
                </a:solidFill>
              </a:rPr>
              <a:t>Race condition in copy-on-write memory</a:t>
            </a:r>
          </a:p>
        </p:txBody>
      </p:sp>
      <p:sp>
        <p:nvSpPr>
          <p:cNvPr id="30" name="Rectangle 29"/>
          <p:cNvSpPr/>
          <p:nvPr/>
        </p:nvSpPr>
        <p:spPr>
          <a:xfrm>
            <a:off x="6309360" y="3584448"/>
            <a:ext cx="5120640" cy="64008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46520" y="3630168"/>
            <a:ext cx="1828800" cy="292608"/>
          </a:xfrm>
          <a:prstGeom prst="rect">
            <a:avLst/>
          </a:prstGeom>
          <a:noFill/>
        </p:spPr>
        <p:txBody>
          <a:bodyPr wrap="square">
            <a:spAutoFit/>
          </a:bodyPr>
          <a:lstStyle/>
          <a:p>
            <a:pPr algn="l"/>
            <a:r>
              <a:rPr sz="1100" b="1" i="0">
                <a:solidFill>
                  <a:srgbClr val="FF4D4D"/>
                </a:solidFill>
              </a:rPr>
              <a:t>Rotten Potato</a:t>
            </a:r>
          </a:p>
        </p:txBody>
      </p:sp>
      <p:sp>
        <p:nvSpPr>
          <p:cNvPr id="32" name="TextBox 31"/>
          <p:cNvSpPr txBox="1"/>
          <p:nvPr/>
        </p:nvSpPr>
        <p:spPr>
          <a:xfrm>
            <a:off x="8138160" y="3630168"/>
            <a:ext cx="1645920" cy="292608"/>
          </a:xfrm>
          <a:prstGeom prst="rect">
            <a:avLst/>
          </a:prstGeom>
          <a:noFill/>
        </p:spPr>
        <p:txBody>
          <a:bodyPr wrap="square">
            <a:spAutoFit/>
          </a:bodyPr>
          <a:lstStyle/>
          <a:p>
            <a:pPr algn="l"/>
            <a:r>
              <a:rPr sz="1000" b="0" i="0">
                <a:solidFill>
                  <a:srgbClr val="FFA500"/>
                </a:solidFill>
              </a:rPr>
              <a:t>CVE-2016-3225</a:t>
            </a:r>
          </a:p>
        </p:txBody>
      </p:sp>
      <p:sp>
        <p:nvSpPr>
          <p:cNvPr id="33" name="TextBox 32"/>
          <p:cNvSpPr txBox="1"/>
          <p:nvPr/>
        </p:nvSpPr>
        <p:spPr>
          <a:xfrm>
            <a:off x="6446520" y="3931920"/>
            <a:ext cx="4846320" cy="274320"/>
          </a:xfrm>
          <a:prstGeom prst="rect">
            <a:avLst/>
          </a:prstGeom>
          <a:noFill/>
        </p:spPr>
        <p:txBody>
          <a:bodyPr wrap="square">
            <a:spAutoFit/>
          </a:bodyPr>
          <a:lstStyle/>
          <a:p>
            <a:pPr algn="l"/>
            <a:r>
              <a:rPr sz="1000" b="0" i="0">
                <a:solidFill>
                  <a:srgbClr val="88AACC"/>
                </a:solidFill>
              </a:rPr>
              <a:t>Windows-like token privilege abuse</a:t>
            </a:r>
          </a:p>
        </p:txBody>
      </p:sp>
      <p:sp>
        <p:nvSpPr>
          <p:cNvPr id="34" name="Rectangle 33"/>
          <p:cNvSpPr/>
          <p:nvPr/>
        </p:nvSpPr>
        <p:spPr>
          <a:xfrm>
            <a:off x="6309360" y="4334256"/>
            <a:ext cx="5120640" cy="64008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6520" y="4379976"/>
            <a:ext cx="1828800" cy="292608"/>
          </a:xfrm>
          <a:prstGeom prst="rect">
            <a:avLst/>
          </a:prstGeom>
          <a:noFill/>
        </p:spPr>
        <p:txBody>
          <a:bodyPr wrap="square">
            <a:spAutoFit/>
          </a:bodyPr>
          <a:lstStyle/>
          <a:p>
            <a:pPr algn="l"/>
            <a:r>
              <a:rPr sz="1100" b="1" i="0">
                <a:solidFill>
                  <a:srgbClr val="FF4D4D"/>
                </a:solidFill>
              </a:rPr>
              <a:t>OverlayFS</a:t>
            </a:r>
          </a:p>
        </p:txBody>
      </p:sp>
      <p:sp>
        <p:nvSpPr>
          <p:cNvPr id="36" name="TextBox 35"/>
          <p:cNvSpPr txBox="1"/>
          <p:nvPr/>
        </p:nvSpPr>
        <p:spPr>
          <a:xfrm>
            <a:off x="8138160" y="4379976"/>
            <a:ext cx="1645920" cy="292608"/>
          </a:xfrm>
          <a:prstGeom prst="rect">
            <a:avLst/>
          </a:prstGeom>
          <a:noFill/>
        </p:spPr>
        <p:txBody>
          <a:bodyPr wrap="square">
            <a:spAutoFit/>
          </a:bodyPr>
          <a:lstStyle/>
          <a:p>
            <a:pPr algn="l"/>
            <a:r>
              <a:rPr sz="1000" b="0" i="0">
                <a:solidFill>
                  <a:srgbClr val="FFA500"/>
                </a:solidFill>
              </a:rPr>
              <a:t>CVE-2021-3493</a:t>
            </a:r>
          </a:p>
        </p:txBody>
      </p:sp>
      <p:sp>
        <p:nvSpPr>
          <p:cNvPr id="37" name="TextBox 36"/>
          <p:cNvSpPr txBox="1"/>
          <p:nvPr/>
        </p:nvSpPr>
        <p:spPr>
          <a:xfrm>
            <a:off x="6446520" y="4681728"/>
            <a:ext cx="4846320" cy="274320"/>
          </a:xfrm>
          <a:prstGeom prst="rect">
            <a:avLst/>
          </a:prstGeom>
          <a:noFill/>
        </p:spPr>
        <p:txBody>
          <a:bodyPr wrap="square">
            <a:spAutoFit/>
          </a:bodyPr>
          <a:lstStyle/>
          <a:p>
            <a:pPr algn="l"/>
            <a:r>
              <a:rPr sz="1000" b="0" i="0">
                <a:solidFill>
                  <a:srgbClr val="88AACC"/>
                </a:solidFill>
              </a:rPr>
              <a:t>Ubuntu namespace privilege escalation</a:t>
            </a:r>
          </a:p>
        </p:txBody>
      </p:sp>
      <p:sp>
        <p:nvSpPr>
          <p:cNvPr id="38" name="Rectangle 37"/>
          <p:cNvSpPr/>
          <p:nvPr/>
        </p:nvSpPr>
        <p:spPr>
          <a:xfrm>
            <a:off x="6309360" y="5084064"/>
            <a:ext cx="5120640" cy="640080"/>
          </a:xfrm>
          <a:prstGeom prst="rect">
            <a:avLst/>
          </a:prstGeom>
          <a:solidFill>
            <a:srgbClr val="1222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46520" y="5129784"/>
            <a:ext cx="1828800" cy="292608"/>
          </a:xfrm>
          <a:prstGeom prst="rect">
            <a:avLst/>
          </a:prstGeom>
          <a:noFill/>
        </p:spPr>
        <p:txBody>
          <a:bodyPr wrap="square">
            <a:spAutoFit/>
          </a:bodyPr>
          <a:lstStyle/>
          <a:p>
            <a:pPr algn="l"/>
            <a:r>
              <a:rPr sz="1100" b="1" i="0">
                <a:solidFill>
                  <a:srgbClr val="FF4D4D"/>
                </a:solidFill>
              </a:rPr>
              <a:t>PwnKit</a:t>
            </a:r>
          </a:p>
        </p:txBody>
      </p:sp>
      <p:sp>
        <p:nvSpPr>
          <p:cNvPr id="40" name="TextBox 39"/>
          <p:cNvSpPr txBox="1"/>
          <p:nvPr/>
        </p:nvSpPr>
        <p:spPr>
          <a:xfrm>
            <a:off x="8138160" y="5129784"/>
            <a:ext cx="1645920" cy="292608"/>
          </a:xfrm>
          <a:prstGeom prst="rect">
            <a:avLst/>
          </a:prstGeom>
          <a:noFill/>
        </p:spPr>
        <p:txBody>
          <a:bodyPr wrap="square">
            <a:spAutoFit/>
          </a:bodyPr>
          <a:lstStyle/>
          <a:p>
            <a:pPr algn="l"/>
            <a:r>
              <a:rPr sz="1000" b="0" i="0">
                <a:solidFill>
                  <a:srgbClr val="FFA500"/>
                </a:solidFill>
              </a:rPr>
              <a:t>CVE-2021-4034</a:t>
            </a:r>
          </a:p>
        </p:txBody>
      </p:sp>
      <p:sp>
        <p:nvSpPr>
          <p:cNvPr id="41" name="TextBox 40"/>
          <p:cNvSpPr txBox="1"/>
          <p:nvPr/>
        </p:nvSpPr>
        <p:spPr>
          <a:xfrm>
            <a:off x="6446520" y="5431536"/>
            <a:ext cx="4846320" cy="274320"/>
          </a:xfrm>
          <a:prstGeom prst="rect">
            <a:avLst/>
          </a:prstGeom>
          <a:noFill/>
        </p:spPr>
        <p:txBody>
          <a:bodyPr wrap="square">
            <a:spAutoFit/>
          </a:bodyPr>
          <a:lstStyle/>
          <a:p>
            <a:pPr algn="l"/>
            <a:r>
              <a:rPr sz="1000" b="0" i="0">
                <a:solidFill>
                  <a:srgbClr val="88AACC"/>
                </a:solidFill>
              </a:rPr>
              <a:t>Polkit local privilege escalation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100584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91440"/>
            <a:ext cx="11731752" cy="640080"/>
          </a:xfrm>
          <a:prstGeom prst="rect">
            <a:avLst/>
          </a:prstGeom>
          <a:noFill/>
        </p:spPr>
        <p:txBody>
          <a:bodyPr wrap="square">
            <a:spAutoFit/>
          </a:bodyPr>
          <a:lstStyle/>
          <a:p>
            <a:pPr algn="l"/>
            <a:r>
              <a:rPr sz="2800" b="1" i="0">
                <a:solidFill>
                  <a:srgbClr val="FFFFFF"/>
                </a:solidFill>
              </a:rPr>
              <a:t>Results &amp; Findings</a:t>
            </a:r>
          </a:p>
        </p:txBody>
      </p:sp>
      <p:sp>
        <p:nvSpPr>
          <p:cNvPr id="5" name="TextBox 4"/>
          <p:cNvSpPr txBox="1"/>
          <p:nvPr/>
        </p:nvSpPr>
        <p:spPr>
          <a:xfrm>
            <a:off x="228600" y="658368"/>
            <a:ext cx="11731752" cy="365760"/>
          </a:xfrm>
          <a:prstGeom prst="rect">
            <a:avLst/>
          </a:prstGeom>
          <a:noFill/>
        </p:spPr>
        <p:txBody>
          <a:bodyPr wrap="square">
            <a:spAutoFit/>
          </a:bodyPr>
          <a:lstStyle/>
          <a:p>
            <a:pPr algn="l"/>
            <a:r>
              <a:rPr sz="1300" b="0" i="0">
                <a:solidFill>
                  <a:srgbClr val="00D4FF"/>
                </a:solidFill>
              </a:rPr>
              <a:t>Vulnerability Assessment Summary</a:t>
            </a:r>
          </a:p>
        </p:txBody>
      </p:sp>
      <p:sp>
        <p:nvSpPr>
          <p:cNvPr id="6" name="Rectangle 5"/>
          <p:cNvSpPr/>
          <p:nvPr/>
        </p:nvSpPr>
        <p:spPr>
          <a:xfrm>
            <a:off x="0" y="1005840"/>
            <a:ext cx="12188952"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80160"/>
            <a:ext cx="11430000" cy="10972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280160"/>
            <a:ext cx="109728" cy="10972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601200" y="1536192"/>
            <a:ext cx="1645920" cy="54864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0" y="1536192"/>
            <a:ext cx="1645920" cy="548640"/>
          </a:xfrm>
          <a:prstGeom prst="rect">
            <a:avLst/>
          </a:prstGeom>
          <a:noFill/>
        </p:spPr>
        <p:txBody>
          <a:bodyPr wrap="square">
            <a:spAutoFit/>
          </a:bodyPr>
          <a:lstStyle/>
          <a:p>
            <a:pPr algn="ctr"/>
            <a:r>
              <a:rPr sz="1200" b="1" i="0">
                <a:solidFill>
                  <a:srgbClr val="0D1B2A"/>
                </a:solidFill>
              </a:rPr>
              <a:t>HIGH</a:t>
            </a:r>
          </a:p>
        </p:txBody>
      </p:sp>
      <p:sp>
        <p:nvSpPr>
          <p:cNvPr id="11" name="TextBox 10"/>
          <p:cNvSpPr txBox="1"/>
          <p:nvPr/>
        </p:nvSpPr>
        <p:spPr>
          <a:xfrm>
            <a:off x="640080" y="1389888"/>
            <a:ext cx="5486400" cy="384048"/>
          </a:xfrm>
          <a:prstGeom prst="rect">
            <a:avLst/>
          </a:prstGeom>
          <a:noFill/>
        </p:spPr>
        <p:txBody>
          <a:bodyPr wrap="square">
            <a:spAutoFit/>
          </a:bodyPr>
          <a:lstStyle/>
          <a:p>
            <a:pPr algn="l"/>
            <a:r>
              <a:rPr sz="1400" b="1" i="0">
                <a:solidFill>
                  <a:srgbClr val="FFFFFF"/>
                </a:solidFill>
              </a:rPr>
              <a:t>SUID Binaries</a:t>
            </a:r>
          </a:p>
        </p:txBody>
      </p:sp>
      <p:sp>
        <p:nvSpPr>
          <p:cNvPr id="12" name="TextBox 11"/>
          <p:cNvSpPr txBox="1"/>
          <p:nvPr/>
        </p:nvSpPr>
        <p:spPr>
          <a:xfrm>
            <a:off x="640080" y="1828800"/>
            <a:ext cx="8686800" cy="475488"/>
          </a:xfrm>
          <a:prstGeom prst="rect">
            <a:avLst/>
          </a:prstGeom>
          <a:noFill/>
        </p:spPr>
        <p:txBody>
          <a:bodyPr wrap="square">
            <a:spAutoFit/>
          </a:bodyPr>
          <a:lstStyle/>
          <a:p>
            <a:pPr algn="l"/>
            <a:r>
              <a:rPr sz="1100" b="0" i="0">
                <a:solidFill>
                  <a:srgbClr val="88AACC"/>
                </a:solidFill>
              </a:rPr>
              <a:t>15+ misconfigured binaries found including /usr/bin/python3</a:t>
            </a:r>
          </a:p>
        </p:txBody>
      </p:sp>
      <p:sp>
        <p:nvSpPr>
          <p:cNvPr id="13" name="Rectangle 12"/>
          <p:cNvSpPr/>
          <p:nvPr/>
        </p:nvSpPr>
        <p:spPr>
          <a:xfrm>
            <a:off x="365760" y="2514600"/>
            <a:ext cx="11430000" cy="10972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2514600"/>
            <a:ext cx="109728" cy="109728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01200" y="2770632"/>
            <a:ext cx="1645920" cy="548640"/>
          </a:xfrm>
          <a:prstGeom prst="rect">
            <a:avLst/>
          </a:prstGeom>
          <a:solidFill>
            <a:srgbClr val="FF4D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0" y="2770632"/>
            <a:ext cx="1645920" cy="548640"/>
          </a:xfrm>
          <a:prstGeom prst="rect">
            <a:avLst/>
          </a:prstGeom>
          <a:noFill/>
        </p:spPr>
        <p:txBody>
          <a:bodyPr wrap="square">
            <a:spAutoFit/>
          </a:bodyPr>
          <a:lstStyle/>
          <a:p>
            <a:pPr algn="ctr"/>
            <a:r>
              <a:rPr sz="1200" b="1" i="0">
                <a:solidFill>
                  <a:srgbClr val="0D1B2A"/>
                </a:solidFill>
              </a:rPr>
              <a:t>HIGH</a:t>
            </a:r>
          </a:p>
        </p:txBody>
      </p:sp>
      <p:sp>
        <p:nvSpPr>
          <p:cNvPr id="17" name="TextBox 16"/>
          <p:cNvSpPr txBox="1"/>
          <p:nvPr/>
        </p:nvSpPr>
        <p:spPr>
          <a:xfrm>
            <a:off x="640080" y="2624328"/>
            <a:ext cx="5486400" cy="384048"/>
          </a:xfrm>
          <a:prstGeom prst="rect">
            <a:avLst/>
          </a:prstGeom>
          <a:noFill/>
        </p:spPr>
        <p:txBody>
          <a:bodyPr wrap="square">
            <a:spAutoFit/>
          </a:bodyPr>
          <a:lstStyle/>
          <a:p>
            <a:pPr algn="l"/>
            <a:r>
              <a:rPr sz="1400" b="1" i="0">
                <a:solidFill>
                  <a:srgbClr val="FFFFFF"/>
                </a:solidFill>
              </a:rPr>
              <a:t>Writable Cron Jobs</a:t>
            </a:r>
          </a:p>
        </p:txBody>
      </p:sp>
      <p:sp>
        <p:nvSpPr>
          <p:cNvPr id="18" name="TextBox 17"/>
          <p:cNvSpPr txBox="1"/>
          <p:nvPr/>
        </p:nvSpPr>
        <p:spPr>
          <a:xfrm>
            <a:off x="640080" y="3063240"/>
            <a:ext cx="8686800" cy="475488"/>
          </a:xfrm>
          <a:prstGeom prst="rect">
            <a:avLst/>
          </a:prstGeom>
          <a:noFill/>
        </p:spPr>
        <p:txBody>
          <a:bodyPr wrap="square">
            <a:spAutoFit/>
          </a:bodyPr>
          <a:lstStyle/>
          <a:p>
            <a:pPr algn="l"/>
            <a:r>
              <a:rPr sz="1100" b="0" i="0">
                <a:solidFill>
                  <a:srgbClr val="88AACC"/>
                </a:solidFill>
              </a:rPr>
              <a:t>3 world-writable cron scripts running as root</a:t>
            </a:r>
          </a:p>
        </p:txBody>
      </p:sp>
      <p:sp>
        <p:nvSpPr>
          <p:cNvPr id="19" name="Rectangle 18"/>
          <p:cNvSpPr/>
          <p:nvPr/>
        </p:nvSpPr>
        <p:spPr>
          <a:xfrm>
            <a:off x="365760" y="3749039"/>
            <a:ext cx="11430000" cy="10972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3749039"/>
            <a:ext cx="109728" cy="10972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601200" y="4005072"/>
            <a:ext cx="1645920" cy="5486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0" y="4005072"/>
            <a:ext cx="1645920" cy="548640"/>
          </a:xfrm>
          <a:prstGeom prst="rect">
            <a:avLst/>
          </a:prstGeom>
          <a:noFill/>
        </p:spPr>
        <p:txBody>
          <a:bodyPr wrap="square">
            <a:spAutoFit/>
          </a:bodyPr>
          <a:lstStyle/>
          <a:p>
            <a:pPr algn="ctr"/>
            <a:r>
              <a:rPr sz="1200" b="1" i="0">
                <a:solidFill>
                  <a:srgbClr val="0D1B2A"/>
                </a:solidFill>
              </a:rPr>
              <a:t>MEDIUM</a:t>
            </a:r>
          </a:p>
        </p:txBody>
      </p:sp>
      <p:sp>
        <p:nvSpPr>
          <p:cNvPr id="23" name="TextBox 22"/>
          <p:cNvSpPr txBox="1"/>
          <p:nvPr/>
        </p:nvSpPr>
        <p:spPr>
          <a:xfrm>
            <a:off x="640080" y="3858768"/>
            <a:ext cx="5486400" cy="384048"/>
          </a:xfrm>
          <a:prstGeom prst="rect">
            <a:avLst/>
          </a:prstGeom>
          <a:noFill/>
        </p:spPr>
        <p:txBody>
          <a:bodyPr wrap="square">
            <a:spAutoFit/>
          </a:bodyPr>
          <a:lstStyle/>
          <a:p>
            <a:pPr algn="l"/>
            <a:r>
              <a:rPr sz="1400" b="1" i="0">
                <a:solidFill>
                  <a:srgbClr val="FFFFFF"/>
                </a:solidFill>
              </a:rPr>
              <a:t>Sudo Misconfiguration</a:t>
            </a:r>
          </a:p>
        </p:txBody>
      </p:sp>
      <p:sp>
        <p:nvSpPr>
          <p:cNvPr id="24" name="TextBox 23"/>
          <p:cNvSpPr txBox="1"/>
          <p:nvPr/>
        </p:nvSpPr>
        <p:spPr>
          <a:xfrm>
            <a:off x="640080" y="4297679"/>
            <a:ext cx="8686800" cy="475488"/>
          </a:xfrm>
          <a:prstGeom prst="rect">
            <a:avLst/>
          </a:prstGeom>
          <a:noFill/>
        </p:spPr>
        <p:txBody>
          <a:bodyPr wrap="square">
            <a:spAutoFit/>
          </a:bodyPr>
          <a:lstStyle/>
          <a:p>
            <a:pPr algn="l"/>
            <a:r>
              <a:rPr sz="1100" b="0" i="0">
                <a:solidFill>
                  <a:srgbClr val="88AACC"/>
                </a:solidFill>
              </a:rPr>
              <a:t>NOPASSWD entries found for multiple commands</a:t>
            </a:r>
          </a:p>
        </p:txBody>
      </p:sp>
      <p:sp>
        <p:nvSpPr>
          <p:cNvPr id="25" name="Rectangle 24"/>
          <p:cNvSpPr/>
          <p:nvPr/>
        </p:nvSpPr>
        <p:spPr>
          <a:xfrm>
            <a:off x="365760" y="4983480"/>
            <a:ext cx="11430000" cy="10972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5760" y="4983480"/>
            <a:ext cx="109728" cy="109728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01200" y="5239512"/>
            <a:ext cx="1645920" cy="54864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0" y="5239512"/>
            <a:ext cx="1645920" cy="548640"/>
          </a:xfrm>
          <a:prstGeom prst="rect">
            <a:avLst/>
          </a:prstGeom>
          <a:noFill/>
        </p:spPr>
        <p:txBody>
          <a:bodyPr wrap="square">
            <a:spAutoFit/>
          </a:bodyPr>
          <a:lstStyle/>
          <a:p>
            <a:pPr algn="ctr"/>
            <a:r>
              <a:rPr sz="1200" b="1" i="0">
                <a:solidFill>
                  <a:srgbClr val="0D1B2A"/>
                </a:solidFill>
              </a:rPr>
              <a:t>MEDIUM</a:t>
            </a:r>
          </a:p>
        </p:txBody>
      </p:sp>
      <p:sp>
        <p:nvSpPr>
          <p:cNvPr id="29" name="TextBox 28"/>
          <p:cNvSpPr txBox="1"/>
          <p:nvPr/>
        </p:nvSpPr>
        <p:spPr>
          <a:xfrm>
            <a:off x="640080" y="5093208"/>
            <a:ext cx="5486400" cy="384048"/>
          </a:xfrm>
          <a:prstGeom prst="rect">
            <a:avLst/>
          </a:prstGeom>
          <a:noFill/>
        </p:spPr>
        <p:txBody>
          <a:bodyPr wrap="square">
            <a:spAutoFit/>
          </a:bodyPr>
          <a:lstStyle/>
          <a:p>
            <a:pPr algn="l"/>
            <a:r>
              <a:rPr sz="1400" b="1" i="0">
                <a:solidFill>
                  <a:srgbClr val="FFFFFF"/>
                </a:solidFill>
              </a:rPr>
              <a:t>Outdated Kernel</a:t>
            </a:r>
          </a:p>
        </p:txBody>
      </p:sp>
      <p:sp>
        <p:nvSpPr>
          <p:cNvPr id="30" name="TextBox 29"/>
          <p:cNvSpPr txBox="1"/>
          <p:nvPr/>
        </p:nvSpPr>
        <p:spPr>
          <a:xfrm>
            <a:off x="640080" y="5532120"/>
            <a:ext cx="8686800" cy="475488"/>
          </a:xfrm>
          <a:prstGeom prst="rect">
            <a:avLst/>
          </a:prstGeom>
          <a:noFill/>
        </p:spPr>
        <p:txBody>
          <a:bodyPr wrap="square">
            <a:spAutoFit/>
          </a:bodyPr>
          <a:lstStyle/>
          <a:p>
            <a:pPr algn="l"/>
            <a:r>
              <a:rPr sz="1100" b="0" i="0">
                <a:solidFill>
                  <a:srgbClr val="88AACC"/>
                </a:solidFill>
              </a:rPr>
              <a:t>Kernel 5.x with 12 known CVEs not patched</a:t>
            </a:r>
          </a:p>
        </p:txBody>
      </p:sp>
      <p:sp>
        <p:nvSpPr>
          <p:cNvPr id="31" name="TextBox 30"/>
          <p:cNvSpPr txBox="1"/>
          <p:nvPr/>
        </p:nvSpPr>
        <p:spPr>
          <a:xfrm>
            <a:off x="365760" y="6217920"/>
            <a:ext cx="11430000" cy="365760"/>
          </a:xfrm>
          <a:prstGeom prst="rect">
            <a:avLst/>
          </a:prstGeom>
          <a:noFill/>
        </p:spPr>
        <p:txBody>
          <a:bodyPr wrap="square">
            <a:spAutoFit/>
          </a:bodyPr>
          <a:lstStyle/>
          <a:p>
            <a:pPr algn="ctr"/>
            <a:r>
              <a:rPr sz="1200" b="1" i="0">
                <a:solidFill>
                  <a:srgbClr val="00FFA3"/>
                </a:solidFill>
              </a:rPr>
              <a:t>4 vulnerability categories detected across all scan modules.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100584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91440"/>
            <a:ext cx="11731752" cy="640080"/>
          </a:xfrm>
          <a:prstGeom prst="rect">
            <a:avLst/>
          </a:prstGeom>
          <a:noFill/>
        </p:spPr>
        <p:txBody>
          <a:bodyPr wrap="square">
            <a:spAutoFit/>
          </a:bodyPr>
          <a:lstStyle/>
          <a:p>
            <a:pPr algn="l"/>
            <a:r>
              <a:rPr sz="2800" b="1" i="0">
                <a:solidFill>
                  <a:srgbClr val="FFFFFF"/>
                </a:solidFill>
              </a:rPr>
              <a:t>Security Recommendations</a:t>
            </a:r>
          </a:p>
        </p:txBody>
      </p:sp>
      <p:sp>
        <p:nvSpPr>
          <p:cNvPr id="5" name="TextBox 4"/>
          <p:cNvSpPr txBox="1"/>
          <p:nvPr/>
        </p:nvSpPr>
        <p:spPr>
          <a:xfrm>
            <a:off x="228600" y="658368"/>
            <a:ext cx="11731752" cy="365760"/>
          </a:xfrm>
          <a:prstGeom prst="rect">
            <a:avLst/>
          </a:prstGeom>
          <a:noFill/>
        </p:spPr>
        <p:txBody>
          <a:bodyPr wrap="square">
            <a:spAutoFit/>
          </a:bodyPr>
          <a:lstStyle/>
          <a:p>
            <a:pPr algn="l"/>
            <a:r>
              <a:rPr sz="1300" b="0" i="0">
                <a:solidFill>
                  <a:srgbClr val="00D4FF"/>
                </a:solidFill>
              </a:rPr>
              <a:t>Mitigation Strategies</a:t>
            </a:r>
          </a:p>
        </p:txBody>
      </p:sp>
      <p:sp>
        <p:nvSpPr>
          <p:cNvPr id="6" name="Rectangle 5"/>
          <p:cNvSpPr/>
          <p:nvPr/>
        </p:nvSpPr>
        <p:spPr>
          <a:xfrm>
            <a:off x="0" y="1005840"/>
            <a:ext cx="12188952"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280160"/>
            <a:ext cx="3657600" cy="219456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280160"/>
            <a:ext cx="3657600" cy="73152"/>
          </a:xfrm>
          <a:prstGeom prst="rect">
            <a:avLst/>
          </a:prstGeom>
          <a:solidFill>
            <a:srgbClr val="00F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444751"/>
            <a:ext cx="594360" cy="594360"/>
          </a:xfrm>
          <a:prstGeom prst="rect">
            <a:avLst/>
          </a:prstGeom>
          <a:noFill/>
        </p:spPr>
        <p:txBody>
          <a:bodyPr wrap="square">
            <a:spAutoFit/>
          </a:bodyPr>
          <a:lstStyle/>
          <a:p>
            <a:pPr algn="l"/>
            <a:r>
              <a:rPr sz="2400" b="0" i="0">
                <a:solidFill>
                  <a:srgbClr val="FFFFFF"/>
                </a:solidFill>
              </a:rPr>
              <a:t>🧹</a:t>
            </a:r>
          </a:p>
        </p:txBody>
      </p:sp>
      <p:sp>
        <p:nvSpPr>
          <p:cNvPr id="10" name="TextBox 9"/>
          <p:cNvSpPr txBox="1"/>
          <p:nvPr/>
        </p:nvSpPr>
        <p:spPr>
          <a:xfrm>
            <a:off x="502920" y="2103120"/>
            <a:ext cx="3383280" cy="457200"/>
          </a:xfrm>
          <a:prstGeom prst="rect">
            <a:avLst/>
          </a:prstGeom>
          <a:noFill/>
        </p:spPr>
        <p:txBody>
          <a:bodyPr wrap="square">
            <a:spAutoFit/>
          </a:bodyPr>
          <a:lstStyle/>
          <a:p>
            <a:pPr algn="l"/>
            <a:r>
              <a:rPr sz="1200" b="1" i="0">
                <a:solidFill>
                  <a:srgbClr val="00FFA3"/>
                </a:solidFill>
              </a:rPr>
              <a:t>Remove Unnecessary SUID</a:t>
            </a:r>
          </a:p>
        </p:txBody>
      </p:sp>
      <p:sp>
        <p:nvSpPr>
          <p:cNvPr id="11" name="TextBox 10"/>
          <p:cNvSpPr txBox="1"/>
          <p:nvPr/>
        </p:nvSpPr>
        <p:spPr>
          <a:xfrm>
            <a:off x="502920" y="2587752"/>
            <a:ext cx="3383280" cy="804672"/>
          </a:xfrm>
          <a:prstGeom prst="rect">
            <a:avLst/>
          </a:prstGeom>
          <a:noFill/>
        </p:spPr>
        <p:txBody>
          <a:bodyPr wrap="square">
            <a:spAutoFit/>
          </a:bodyPr>
          <a:lstStyle/>
          <a:p>
            <a:pPr algn="l"/>
            <a:r>
              <a:rPr sz="1000" b="0" i="0">
                <a:solidFill>
                  <a:srgbClr val="88AACC"/>
                </a:solidFill>
              </a:rPr>
              <a:t>Audit all SUID binaries and remove the setuid bit from non-essential executables using chmod -s</a:t>
            </a:r>
          </a:p>
        </p:txBody>
      </p:sp>
      <p:sp>
        <p:nvSpPr>
          <p:cNvPr id="12" name="Rectangle 11"/>
          <p:cNvSpPr/>
          <p:nvPr/>
        </p:nvSpPr>
        <p:spPr>
          <a:xfrm>
            <a:off x="4297680" y="1280160"/>
            <a:ext cx="3657600" cy="219456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1280160"/>
            <a:ext cx="3657600"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1444751"/>
            <a:ext cx="594360" cy="594360"/>
          </a:xfrm>
          <a:prstGeom prst="rect">
            <a:avLst/>
          </a:prstGeom>
          <a:noFill/>
        </p:spPr>
        <p:txBody>
          <a:bodyPr wrap="square">
            <a:spAutoFit/>
          </a:bodyPr>
          <a:lstStyle/>
          <a:p>
            <a:pPr algn="l"/>
            <a:r>
              <a:rPr sz="2400" b="0" i="0">
                <a:solidFill>
                  <a:srgbClr val="FFFFFF"/>
                </a:solidFill>
              </a:rPr>
              <a:t>🔒</a:t>
            </a:r>
          </a:p>
        </p:txBody>
      </p:sp>
      <p:sp>
        <p:nvSpPr>
          <p:cNvPr id="15" name="TextBox 14"/>
          <p:cNvSpPr txBox="1"/>
          <p:nvPr/>
        </p:nvSpPr>
        <p:spPr>
          <a:xfrm>
            <a:off x="4434840" y="2103120"/>
            <a:ext cx="3383280" cy="457200"/>
          </a:xfrm>
          <a:prstGeom prst="rect">
            <a:avLst/>
          </a:prstGeom>
          <a:noFill/>
        </p:spPr>
        <p:txBody>
          <a:bodyPr wrap="square">
            <a:spAutoFit/>
          </a:bodyPr>
          <a:lstStyle/>
          <a:p>
            <a:pPr algn="l"/>
            <a:r>
              <a:rPr sz="1200" b="1" i="0">
                <a:solidFill>
                  <a:srgbClr val="00D4FF"/>
                </a:solidFill>
              </a:rPr>
              <a:t>Restrict File Permissions</a:t>
            </a:r>
          </a:p>
        </p:txBody>
      </p:sp>
      <p:sp>
        <p:nvSpPr>
          <p:cNvPr id="16" name="TextBox 15"/>
          <p:cNvSpPr txBox="1"/>
          <p:nvPr/>
        </p:nvSpPr>
        <p:spPr>
          <a:xfrm>
            <a:off x="4434840" y="2587752"/>
            <a:ext cx="3383280" cy="804672"/>
          </a:xfrm>
          <a:prstGeom prst="rect">
            <a:avLst/>
          </a:prstGeom>
          <a:noFill/>
        </p:spPr>
        <p:txBody>
          <a:bodyPr wrap="square">
            <a:spAutoFit/>
          </a:bodyPr>
          <a:lstStyle/>
          <a:p>
            <a:pPr algn="l"/>
            <a:r>
              <a:rPr sz="1000" b="0" i="0">
                <a:solidFill>
                  <a:srgbClr val="88AACC"/>
                </a:solidFill>
              </a:rPr>
              <a:t>Apply principle of least privilege to all files; use chmod and chown to enforce access controls</a:t>
            </a:r>
          </a:p>
        </p:txBody>
      </p:sp>
      <p:sp>
        <p:nvSpPr>
          <p:cNvPr id="17" name="Rectangle 16"/>
          <p:cNvSpPr/>
          <p:nvPr/>
        </p:nvSpPr>
        <p:spPr>
          <a:xfrm>
            <a:off x="8229600" y="1280160"/>
            <a:ext cx="3657600" cy="219456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9600" y="1280160"/>
            <a:ext cx="3657600" cy="7315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1444751"/>
            <a:ext cx="594360" cy="594360"/>
          </a:xfrm>
          <a:prstGeom prst="rect">
            <a:avLst/>
          </a:prstGeom>
          <a:noFill/>
        </p:spPr>
        <p:txBody>
          <a:bodyPr wrap="square">
            <a:spAutoFit/>
          </a:bodyPr>
          <a:lstStyle/>
          <a:p>
            <a:pPr algn="l"/>
            <a:r>
              <a:rPr sz="2400" b="0" i="0">
                <a:solidFill>
                  <a:srgbClr val="FFFFFF"/>
                </a:solidFill>
              </a:rPr>
              <a:t>🔐</a:t>
            </a:r>
          </a:p>
        </p:txBody>
      </p:sp>
      <p:sp>
        <p:nvSpPr>
          <p:cNvPr id="20" name="TextBox 19"/>
          <p:cNvSpPr txBox="1"/>
          <p:nvPr/>
        </p:nvSpPr>
        <p:spPr>
          <a:xfrm>
            <a:off x="8366760" y="2103120"/>
            <a:ext cx="3383280" cy="457200"/>
          </a:xfrm>
          <a:prstGeom prst="rect">
            <a:avLst/>
          </a:prstGeom>
          <a:noFill/>
        </p:spPr>
        <p:txBody>
          <a:bodyPr wrap="square">
            <a:spAutoFit/>
          </a:bodyPr>
          <a:lstStyle/>
          <a:p>
            <a:pPr algn="l"/>
            <a:r>
              <a:rPr sz="1200" b="1" i="0">
                <a:solidFill>
                  <a:srgbClr val="FFA500"/>
                </a:solidFill>
              </a:rPr>
              <a:t>Secure Cron Jobs</a:t>
            </a:r>
          </a:p>
        </p:txBody>
      </p:sp>
      <p:sp>
        <p:nvSpPr>
          <p:cNvPr id="21" name="TextBox 20"/>
          <p:cNvSpPr txBox="1"/>
          <p:nvPr/>
        </p:nvSpPr>
        <p:spPr>
          <a:xfrm>
            <a:off x="8366760" y="2587752"/>
            <a:ext cx="3383280" cy="804672"/>
          </a:xfrm>
          <a:prstGeom prst="rect">
            <a:avLst/>
          </a:prstGeom>
          <a:noFill/>
        </p:spPr>
        <p:txBody>
          <a:bodyPr wrap="square">
            <a:spAutoFit/>
          </a:bodyPr>
          <a:lstStyle/>
          <a:p>
            <a:pPr algn="l"/>
            <a:r>
              <a:rPr sz="1000" b="0" i="0">
                <a:solidFill>
                  <a:srgbClr val="88AACC"/>
                </a:solidFill>
              </a:rPr>
              <a:t>Ensure cron scripts are not world-writable; restrict ownership to root only</a:t>
            </a:r>
          </a:p>
        </p:txBody>
      </p:sp>
      <p:sp>
        <p:nvSpPr>
          <p:cNvPr id="22" name="Rectangle 21"/>
          <p:cNvSpPr/>
          <p:nvPr/>
        </p:nvSpPr>
        <p:spPr>
          <a:xfrm>
            <a:off x="2103120" y="3749039"/>
            <a:ext cx="3657600" cy="219456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103120" y="3749039"/>
            <a:ext cx="3657600" cy="73152"/>
          </a:xfrm>
          <a:prstGeom prst="rect">
            <a:avLst/>
          </a:prstGeom>
          <a:solidFill>
            <a:srgbClr val="AA6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40279" y="3913631"/>
            <a:ext cx="594360" cy="594360"/>
          </a:xfrm>
          <a:prstGeom prst="rect">
            <a:avLst/>
          </a:prstGeom>
          <a:noFill/>
        </p:spPr>
        <p:txBody>
          <a:bodyPr wrap="square">
            <a:spAutoFit/>
          </a:bodyPr>
          <a:lstStyle/>
          <a:p>
            <a:pPr algn="l"/>
            <a:r>
              <a:rPr sz="2400" b="0" i="0">
                <a:solidFill>
                  <a:srgbClr val="FFFFFF"/>
                </a:solidFill>
              </a:rPr>
              <a:t>📋</a:t>
            </a:r>
          </a:p>
        </p:txBody>
      </p:sp>
      <p:sp>
        <p:nvSpPr>
          <p:cNvPr id="25" name="TextBox 24"/>
          <p:cNvSpPr txBox="1"/>
          <p:nvPr/>
        </p:nvSpPr>
        <p:spPr>
          <a:xfrm>
            <a:off x="2240279" y="4572000"/>
            <a:ext cx="3383280" cy="457200"/>
          </a:xfrm>
          <a:prstGeom prst="rect">
            <a:avLst/>
          </a:prstGeom>
          <a:noFill/>
        </p:spPr>
        <p:txBody>
          <a:bodyPr wrap="square">
            <a:spAutoFit/>
          </a:bodyPr>
          <a:lstStyle/>
          <a:p>
            <a:pPr algn="l"/>
            <a:r>
              <a:rPr sz="1200" b="1" i="0">
                <a:solidFill>
                  <a:srgbClr val="AA66FF"/>
                </a:solidFill>
              </a:rPr>
              <a:t>Review Sudo Configurations</a:t>
            </a:r>
          </a:p>
        </p:txBody>
      </p:sp>
      <p:sp>
        <p:nvSpPr>
          <p:cNvPr id="26" name="TextBox 25"/>
          <p:cNvSpPr txBox="1"/>
          <p:nvPr/>
        </p:nvSpPr>
        <p:spPr>
          <a:xfrm>
            <a:off x="2240279" y="5056631"/>
            <a:ext cx="3383280" cy="804672"/>
          </a:xfrm>
          <a:prstGeom prst="rect">
            <a:avLst/>
          </a:prstGeom>
          <a:noFill/>
        </p:spPr>
        <p:txBody>
          <a:bodyPr wrap="square">
            <a:spAutoFit/>
          </a:bodyPr>
          <a:lstStyle/>
          <a:p>
            <a:pPr algn="l"/>
            <a:r>
              <a:rPr sz="1000" b="0" i="0">
                <a:solidFill>
                  <a:srgbClr val="88AACC"/>
                </a:solidFill>
              </a:rPr>
              <a:t>Audit /etc/sudoers regularly; remove NOPASSWD entries and excessive privilege grants</a:t>
            </a:r>
          </a:p>
        </p:txBody>
      </p:sp>
      <p:sp>
        <p:nvSpPr>
          <p:cNvPr id="27" name="Rectangle 26"/>
          <p:cNvSpPr/>
          <p:nvPr/>
        </p:nvSpPr>
        <p:spPr>
          <a:xfrm>
            <a:off x="6035040" y="3749039"/>
            <a:ext cx="3657600" cy="219456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35040" y="3749039"/>
            <a:ext cx="3657600" cy="73152"/>
          </a:xfrm>
          <a:prstGeom prst="rect">
            <a:avLst/>
          </a:prstGeom>
          <a:solidFill>
            <a:srgbClr val="00F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72200" y="3913631"/>
            <a:ext cx="594360" cy="594360"/>
          </a:xfrm>
          <a:prstGeom prst="rect">
            <a:avLst/>
          </a:prstGeom>
          <a:noFill/>
        </p:spPr>
        <p:txBody>
          <a:bodyPr wrap="square">
            <a:spAutoFit/>
          </a:bodyPr>
          <a:lstStyle/>
          <a:p>
            <a:pPr algn="l"/>
            <a:r>
              <a:rPr sz="2400" b="0" i="0">
                <a:solidFill>
                  <a:srgbClr val="FFFFFF"/>
                </a:solidFill>
              </a:rPr>
              <a:t>🔄</a:t>
            </a:r>
          </a:p>
        </p:txBody>
      </p:sp>
      <p:sp>
        <p:nvSpPr>
          <p:cNvPr id="30" name="TextBox 29"/>
          <p:cNvSpPr txBox="1"/>
          <p:nvPr/>
        </p:nvSpPr>
        <p:spPr>
          <a:xfrm>
            <a:off x="6172200" y="4572000"/>
            <a:ext cx="3383280" cy="457200"/>
          </a:xfrm>
          <a:prstGeom prst="rect">
            <a:avLst/>
          </a:prstGeom>
          <a:noFill/>
        </p:spPr>
        <p:txBody>
          <a:bodyPr wrap="square">
            <a:spAutoFit/>
          </a:bodyPr>
          <a:lstStyle/>
          <a:p>
            <a:pPr algn="l"/>
            <a:r>
              <a:rPr sz="1200" b="1" i="0">
                <a:solidFill>
                  <a:srgbClr val="00FFA3"/>
                </a:solidFill>
              </a:rPr>
              <a:t>Update Linux Kernel</a:t>
            </a:r>
          </a:p>
        </p:txBody>
      </p:sp>
      <p:sp>
        <p:nvSpPr>
          <p:cNvPr id="31" name="TextBox 30"/>
          <p:cNvSpPr txBox="1"/>
          <p:nvPr/>
        </p:nvSpPr>
        <p:spPr>
          <a:xfrm>
            <a:off x="6172200" y="5056631"/>
            <a:ext cx="3383280" cy="804672"/>
          </a:xfrm>
          <a:prstGeom prst="rect">
            <a:avLst/>
          </a:prstGeom>
          <a:noFill/>
        </p:spPr>
        <p:txBody>
          <a:bodyPr wrap="square">
            <a:spAutoFit/>
          </a:bodyPr>
          <a:lstStyle/>
          <a:p>
            <a:pPr algn="l"/>
            <a:r>
              <a:rPr sz="1000" b="0" i="0">
                <a:solidFill>
                  <a:srgbClr val="88AACC"/>
                </a:solidFill>
              </a:rPr>
              <a:t>Maintain regular patch cycles; apply security updates promptly to eliminate known CVEs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100584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91440"/>
            <a:ext cx="11731752" cy="640080"/>
          </a:xfrm>
          <a:prstGeom prst="rect">
            <a:avLst/>
          </a:prstGeom>
          <a:noFill/>
        </p:spPr>
        <p:txBody>
          <a:bodyPr wrap="square">
            <a:spAutoFit/>
          </a:bodyPr>
          <a:lstStyle/>
          <a:p>
            <a:pPr algn="l"/>
            <a:r>
              <a:rPr sz="2800" b="1" i="0">
                <a:solidFill>
                  <a:srgbClr val="FFFFFF"/>
                </a:solidFill>
              </a:rPr>
              <a:t>Learning Outcomes</a:t>
            </a:r>
          </a:p>
        </p:txBody>
      </p:sp>
      <p:sp>
        <p:nvSpPr>
          <p:cNvPr id="5" name="TextBox 4"/>
          <p:cNvSpPr txBox="1"/>
          <p:nvPr/>
        </p:nvSpPr>
        <p:spPr>
          <a:xfrm>
            <a:off x="228600" y="658368"/>
            <a:ext cx="11731752" cy="365760"/>
          </a:xfrm>
          <a:prstGeom prst="rect">
            <a:avLst/>
          </a:prstGeom>
          <a:noFill/>
        </p:spPr>
        <p:txBody>
          <a:bodyPr wrap="square">
            <a:spAutoFit/>
          </a:bodyPr>
          <a:lstStyle/>
          <a:p>
            <a:pPr algn="l"/>
            <a:r>
              <a:rPr sz="1300" b="0" i="0">
                <a:solidFill>
                  <a:srgbClr val="00D4FF"/>
                </a:solidFill>
              </a:rPr>
              <a:t>Skills Developed During the Project</a:t>
            </a:r>
          </a:p>
        </p:txBody>
      </p:sp>
      <p:sp>
        <p:nvSpPr>
          <p:cNvPr id="6" name="Rectangle 5"/>
          <p:cNvSpPr/>
          <p:nvPr/>
        </p:nvSpPr>
        <p:spPr>
          <a:xfrm>
            <a:off x="0" y="1005840"/>
            <a:ext cx="12188952"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325880"/>
            <a:ext cx="3566160" cy="196596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25880"/>
            <a:ext cx="73152" cy="1965960"/>
          </a:xfrm>
          <a:prstGeom prst="rect">
            <a:avLst/>
          </a:prstGeom>
          <a:solidFill>
            <a:srgbClr val="00F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527048"/>
            <a:ext cx="594360" cy="594360"/>
          </a:xfrm>
          <a:prstGeom prst="rect">
            <a:avLst/>
          </a:prstGeom>
          <a:noFill/>
        </p:spPr>
        <p:txBody>
          <a:bodyPr wrap="square">
            <a:spAutoFit/>
          </a:bodyPr>
          <a:lstStyle/>
          <a:p>
            <a:pPr algn="l"/>
            <a:r>
              <a:rPr sz="2400" b="0" i="0">
                <a:solidFill>
                  <a:srgbClr val="FFFFFF"/>
                </a:solidFill>
              </a:rPr>
              <a:t>🛡️</a:t>
            </a:r>
          </a:p>
        </p:txBody>
      </p:sp>
      <p:sp>
        <p:nvSpPr>
          <p:cNvPr id="10" name="TextBox 9"/>
          <p:cNvSpPr txBox="1"/>
          <p:nvPr/>
        </p:nvSpPr>
        <p:spPr>
          <a:xfrm>
            <a:off x="640080" y="2194560"/>
            <a:ext cx="3200400" cy="411480"/>
          </a:xfrm>
          <a:prstGeom prst="rect">
            <a:avLst/>
          </a:prstGeom>
          <a:noFill/>
        </p:spPr>
        <p:txBody>
          <a:bodyPr wrap="square">
            <a:spAutoFit/>
          </a:bodyPr>
          <a:lstStyle/>
          <a:p>
            <a:pPr algn="l"/>
            <a:r>
              <a:rPr sz="1200" b="1" i="0">
                <a:solidFill>
                  <a:srgbClr val="00FFA3"/>
                </a:solidFill>
              </a:rPr>
              <a:t>Linux Security Auditing</a:t>
            </a:r>
          </a:p>
        </p:txBody>
      </p:sp>
      <p:sp>
        <p:nvSpPr>
          <p:cNvPr id="11" name="TextBox 10"/>
          <p:cNvSpPr txBox="1"/>
          <p:nvPr/>
        </p:nvSpPr>
        <p:spPr>
          <a:xfrm>
            <a:off x="640080" y="2624328"/>
            <a:ext cx="3246120" cy="594360"/>
          </a:xfrm>
          <a:prstGeom prst="rect">
            <a:avLst/>
          </a:prstGeom>
          <a:noFill/>
        </p:spPr>
        <p:txBody>
          <a:bodyPr wrap="square">
            <a:spAutoFit/>
          </a:bodyPr>
          <a:lstStyle/>
          <a:p>
            <a:pPr algn="l"/>
            <a:r>
              <a:rPr sz="1000" b="0" i="0">
                <a:solidFill>
                  <a:srgbClr val="88AACC"/>
                </a:solidFill>
              </a:rPr>
              <a:t>Hands-on experience with real vulnerability scanning techniques on Linux systems</a:t>
            </a:r>
          </a:p>
        </p:txBody>
      </p:sp>
      <p:sp>
        <p:nvSpPr>
          <p:cNvPr id="12" name="Rectangle 11"/>
          <p:cNvSpPr/>
          <p:nvPr/>
        </p:nvSpPr>
        <p:spPr>
          <a:xfrm>
            <a:off x="4343400" y="1325880"/>
            <a:ext cx="3566160" cy="196596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1325880"/>
            <a:ext cx="73152" cy="1965960"/>
          </a:xfrm>
          <a:prstGeom prst="rect">
            <a:avLst/>
          </a:prstGeom>
          <a:solidFill>
            <a:srgbClr val="00F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26280" y="1527048"/>
            <a:ext cx="594360" cy="594360"/>
          </a:xfrm>
          <a:prstGeom prst="rect">
            <a:avLst/>
          </a:prstGeom>
          <a:noFill/>
        </p:spPr>
        <p:txBody>
          <a:bodyPr wrap="square">
            <a:spAutoFit/>
          </a:bodyPr>
          <a:lstStyle/>
          <a:p>
            <a:pPr algn="l"/>
            <a:r>
              <a:rPr sz="2400" b="0" i="0">
                <a:solidFill>
                  <a:srgbClr val="FFFFFF"/>
                </a:solidFill>
              </a:rPr>
              <a:t>🔓</a:t>
            </a:r>
          </a:p>
        </p:txBody>
      </p:sp>
      <p:sp>
        <p:nvSpPr>
          <p:cNvPr id="15" name="TextBox 14"/>
          <p:cNvSpPr txBox="1"/>
          <p:nvPr/>
        </p:nvSpPr>
        <p:spPr>
          <a:xfrm>
            <a:off x="4526280" y="2194560"/>
            <a:ext cx="3200400" cy="411480"/>
          </a:xfrm>
          <a:prstGeom prst="rect">
            <a:avLst/>
          </a:prstGeom>
          <a:noFill/>
        </p:spPr>
        <p:txBody>
          <a:bodyPr wrap="square">
            <a:spAutoFit/>
          </a:bodyPr>
          <a:lstStyle/>
          <a:p>
            <a:pPr algn="l"/>
            <a:r>
              <a:rPr sz="1200" b="1" i="0">
                <a:solidFill>
                  <a:srgbClr val="00FFA3"/>
                </a:solidFill>
              </a:rPr>
              <a:t>Privilege Escalation Analysis</a:t>
            </a:r>
          </a:p>
        </p:txBody>
      </p:sp>
      <p:sp>
        <p:nvSpPr>
          <p:cNvPr id="16" name="TextBox 15"/>
          <p:cNvSpPr txBox="1"/>
          <p:nvPr/>
        </p:nvSpPr>
        <p:spPr>
          <a:xfrm>
            <a:off x="4526280" y="2624328"/>
            <a:ext cx="3246120" cy="594360"/>
          </a:xfrm>
          <a:prstGeom prst="rect">
            <a:avLst/>
          </a:prstGeom>
          <a:noFill/>
        </p:spPr>
        <p:txBody>
          <a:bodyPr wrap="square">
            <a:spAutoFit/>
          </a:bodyPr>
          <a:lstStyle/>
          <a:p>
            <a:pPr algn="l"/>
            <a:r>
              <a:rPr sz="1000" b="0" i="0">
                <a:solidFill>
                  <a:srgbClr val="88AACC"/>
                </a:solidFill>
              </a:rPr>
              <a:t>Deep understanding of attack vectors used in privilege escalation exploits</a:t>
            </a:r>
          </a:p>
        </p:txBody>
      </p:sp>
      <p:sp>
        <p:nvSpPr>
          <p:cNvPr id="17" name="Rectangle 16"/>
          <p:cNvSpPr/>
          <p:nvPr/>
        </p:nvSpPr>
        <p:spPr>
          <a:xfrm>
            <a:off x="8229600" y="1325880"/>
            <a:ext cx="3566160" cy="196596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229600" y="1325880"/>
            <a:ext cx="73152" cy="1965960"/>
          </a:xfrm>
          <a:prstGeom prst="rect">
            <a:avLst/>
          </a:prstGeom>
          <a:solidFill>
            <a:srgbClr val="00F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1527048"/>
            <a:ext cx="594360" cy="594360"/>
          </a:xfrm>
          <a:prstGeom prst="rect">
            <a:avLst/>
          </a:prstGeom>
          <a:noFill/>
        </p:spPr>
        <p:txBody>
          <a:bodyPr wrap="square">
            <a:spAutoFit/>
          </a:bodyPr>
          <a:lstStyle/>
          <a:p>
            <a:pPr algn="l"/>
            <a:r>
              <a:rPr sz="2400" b="0" i="0">
                <a:solidFill>
                  <a:srgbClr val="FFFFFF"/>
                </a:solidFill>
              </a:rPr>
              <a:t>🐍</a:t>
            </a:r>
          </a:p>
        </p:txBody>
      </p:sp>
      <p:sp>
        <p:nvSpPr>
          <p:cNvPr id="20" name="TextBox 19"/>
          <p:cNvSpPr txBox="1"/>
          <p:nvPr/>
        </p:nvSpPr>
        <p:spPr>
          <a:xfrm>
            <a:off x="8412480" y="2194560"/>
            <a:ext cx="3200400" cy="411480"/>
          </a:xfrm>
          <a:prstGeom prst="rect">
            <a:avLst/>
          </a:prstGeom>
          <a:noFill/>
        </p:spPr>
        <p:txBody>
          <a:bodyPr wrap="square">
            <a:spAutoFit/>
          </a:bodyPr>
          <a:lstStyle/>
          <a:p>
            <a:pPr algn="l"/>
            <a:r>
              <a:rPr sz="1200" b="1" i="0">
                <a:solidFill>
                  <a:srgbClr val="00FFA3"/>
                </a:solidFill>
              </a:rPr>
              <a:t>Python &amp; Bash Scripting</a:t>
            </a:r>
          </a:p>
        </p:txBody>
      </p:sp>
      <p:sp>
        <p:nvSpPr>
          <p:cNvPr id="21" name="TextBox 20"/>
          <p:cNvSpPr txBox="1"/>
          <p:nvPr/>
        </p:nvSpPr>
        <p:spPr>
          <a:xfrm>
            <a:off x="8412480" y="2624328"/>
            <a:ext cx="3246120" cy="594360"/>
          </a:xfrm>
          <a:prstGeom prst="rect">
            <a:avLst/>
          </a:prstGeom>
          <a:noFill/>
        </p:spPr>
        <p:txBody>
          <a:bodyPr wrap="square">
            <a:spAutoFit/>
          </a:bodyPr>
          <a:lstStyle/>
          <a:p>
            <a:pPr algn="l"/>
            <a:r>
              <a:rPr sz="1000" b="0" i="0">
                <a:solidFill>
                  <a:srgbClr val="88AACC"/>
                </a:solidFill>
              </a:rPr>
              <a:t>Advanced scripting skills for automation, parsing, and security tool development</a:t>
            </a:r>
          </a:p>
        </p:txBody>
      </p:sp>
      <p:sp>
        <p:nvSpPr>
          <p:cNvPr id="22" name="Rectangle 21"/>
          <p:cNvSpPr/>
          <p:nvPr/>
        </p:nvSpPr>
        <p:spPr>
          <a:xfrm>
            <a:off x="2194560" y="3520440"/>
            <a:ext cx="3566160" cy="196596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194560" y="3520440"/>
            <a:ext cx="73152" cy="1965960"/>
          </a:xfrm>
          <a:prstGeom prst="rect">
            <a:avLst/>
          </a:prstGeom>
          <a:solidFill>
            <a:srgbClr val="00F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77440" y="3721608"/>
            <a:ext cx="594360" cy="594360"/>
          </a:xfrm>
          <a:prstGeom prst="rect">
            <a:avLst/>
          </a:prstGeom>
          <a:noFill/>
        </p:spPr>
        <p:txBody>
          <a:bodyPr wrap="square">
            <a:spAutoFit/>
          </a:bodyPr>
          <a:lstStyle/>
          <a:p>
            <a:pPr algn="l"/>
            <a:r>
              <a:rPr sz="2400" b="0" i="0">
                <a:solidFill>
                  <a:srgbClr val="FFFFFF"/>
                </a:solidFill>
              </a:rPr>
              <a:t>🤖</a:t>
            </a:r>
          </a:p>
        </p:txBody>
      </p:sp>
      <p:sp>
        <p:nvSpPr>
          <p:cNvPr id="25" name="TextBox 24"/>
          <p:cNvSpPr txBox="1"/>
          <p:nvPr/>
        </p:nvSpPr>
        <p:spPr>
          <a:xfrm>
            <a:off x="2377440" y="4389120"/>
            <a:ext cx="3200400" cy="411480"/>
          </a:xfrm>
          <a:prstGeom prst="rect">
            <a:avLst/>
          </a:prstGeom>
          <a:noFill/>
        </p:spPr>
        <p:txBody>
          <a:bodyPr wrap="square">
            <a:spAutoFit/>
          </a:bodyPr>
          <a:lstStyle/>
          <a:p>
            <a:pPr algn="l"/>
            <a:r>
              <a:rPr sz="1200" b="1" i="0">
                <a:solidFill>
                  <a:srgbClr val="00FFA3"/>
                </a:solidFill>
              </a:rPr>
              <a:t>Automated Scanning</a:t>
            </a:r>
          </a:p>
        </p:txBody>
      </p:sp>
      <p:sp>
        <p:nvSpPr>
          <p:cNvPr id="26" name="TextBox 25"/>
          <p:cNvSpPr txBox="1"/>
          <p:nvPr/>
        </p:nvSpPr>
        <p:spPr>
          <a:xfrm>
            <a:off x="2377440" y="4818888"/>
            <a:ext cx="3246120" cy="594360"/>
          </a:xfrm>
          <a:prstGeom prst="rect">
            <a:avLst/>
          </a:prstGeom>
          <a:noFill/>
        </p:spPr>
        <p:txBody>
          <a:bodyPr wrap="square">
            <a:spAutoFit/>
          </a:bodyPr>
          <a:lstStyle/>
          <a:p>
            <a:pPr algn="l"/>
            <a:r>
              <a:rPr sz="1000" b="0" i="0">
                <a:solidFill>
                  <a:srgbClr val="88AACC"/>
                </a:solidFill>
              </a:rPr>
              <a:t>Designed and implemented a fully automated vulnerability detection pipeline</a:t>
            </a:r>
          </a:p>
        </p:txBody>
      </p:sp>
      <p:sp>
        <p:nvSpPr>
          <p:cNvPr id="27" name="Rectangle 26"/>
          <p:cNvSpPr/>
          <p:nvPr/>
        </p:nvSpPr>
        <p:spPr>
          <a:xfrm>
            <a:off x="6080760" y="3520440"/>
            <a:ext cx="3566160" cy="196596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080760" y="3520440"/>
            <a:ext cx="73152" cy="1965960"/>
          </a:xfrm>
          <a:prstGeom prst="rect">
            <a:avLst/>
          </a:prstGeom>
          <a:solidFill>
            <a:srgbClr val="00F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3640" y="3721608"/>
            <a:ext cx="594360" cy="594360"/>
          </a:xfrm>
          <a:prstGeom prst="rect">
            <a:avLst/>
          </a:prstGeom>
          <a:noFill/>
        </p:spPr>
        <p:txBody>
          <a:bodyPr wrap="square">
            <a:spAutoFit/>
          </a:bodyPr>
          <a:lstStyle/>
          <a:p>
            <a:pPr algn="l"/>
            <a:r>
              <a:rPr sz="2400" b="0" i="0">
                <a:solidFill>
                  <a:srgbClr val="FFFFFF"/>
                </a:solidFill>
              </a:rPr>
              <a:t>📊</a:t>
            </a:r>
          </a:p>
        </p:txBody>
      </p:sp>
      <p:sp>
        <p:nvSpPr>
          <p:cNvPr id="30" name="TextBox 29"/>
          <p:cNvSpPr txBox="1"/>
          <p:nvPr/>
        </p:nvSpPr>
        <p:spPr>
          <a:xfrm>
            <a:off x="6263640" y="4389120"/>
            <a:ext cx="3200400" cy="411480"/>
          </a:xfrm>
          <a:prstGeom prst="rect">
            <a:avLst/>
          </a:prstGeom>
          <a:noFill/>
        </p:spPr>
        <p:txBody>
          <a:bodyPr wrap="square">
            <a:spAutoFit/>
          </a:bodyPr>
          <a:lstStyle/>
          <a:p>
            <a:pPr algn="l"/>
            <a:r>
              <a:rPr sz="1200" b="1" i="0">
                <a:solidFill>
                  <a:srgbClr val="00FFA3"/>
                </a:solidFill>
              </a:rPr>
              <a:t>Security Reporting</a:t>
            </a:r>
          </a:p>
        </p:txBody>
      </p:sp>
      <p:sp>
        <p:nvSpPr>
          <p:cNvPr id="31" name="TextBox 30"/>
          <p:cNvSpPr txBox="1"/>
          <p:nvPr/>
        </p:nvSpPr>
        <p:spPr>
          <a:xfrm>
            <a:off x="6263640" y="4818888"/>
            <a:ext cx="3246120" cy="594360"/>
          </a:xfrm>
          <a:prstGeom prst="rect">
            <a:avLst/>
          </a:prstGeom>
          <a:noFill/>
        </p:spPr>
        <p:txBody>
          <a:bodyPr wrap="square">
            <a:spAutoFit/>
          </a:bodyPr>
          <a:lstStyle/>
          <a:p>
            <a:pPr algn="l"/>
            <a:r>
              <a:rPr sz="1000" b="0" i="0">
                <a:solidFill>
                  <a:srgbClr val="88AACC"/>
                </a:solidFill>
              </a:rPr>
              <a:t>Created structured, actionable security reports for system administrators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1005840"/>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91440"/>
            <a:ext cx="11731752" cy="640080"/>
          </a:xfrm>
          <a:prstGeom prst="rect">
            <a:avLst/>
          </a:prstGeom>
          <a:noFill/>
        </p:spPr>
        <p:txBody>
          <a:bodyPr wrap="square">
            <a:spAutoFit/>
          </a:bodyPr>
          <a:lstStyle/>
          <a:p>
            <a:pPr algn="l"/>
            <a:r>
              <a:rPr sz="2800" b="1" i="0">
                <a:solidFill>
                  <a:srgbClr val="FFFFFF"/>
                </a:solidFill>
              </a:rPr>
              <a:t>Future Enhancements</a:t>
            </a:r>
          </a:p>
        </p:txBody>
      </p:sp>
      <p:sp>
        <p:nvSpPr>
          <p:cNvPr id="5" name="TextBox 4"/>
          <p:cNvSpPr txBox="1"/>
          <p:nvPr/>
        </p:nvSpPr>
        <p:spPr>
          <a:xfrm>
            <a:off x="228600" y="658368"/>
            <a:ext cx="11731752" cy="365760"/>
          </a:xfrm>
          <a:prstGeom prst="rect">
            <a:avLst/>
          </a:prstGeom>
          <a:noFill/>
        </p:spPr>
        <p:txBody>
          <a:bodyPr wrap="square">
            <a:spAutoFit/>
          </a:bodyPr>
          <a:lstStyle/>
          <a:p>
            <a:pPr algn="l"/>
            <a:r>
              <a:rPr sz="1300" b="0" i="0">
                <a:solidFill>
                  <a:srgbClr val="00D4FF"/>
                </a:solidFill>
              </a:rPr>
              <a:t>Roadmap for Further Development</a:t>
            </a:r>
          </a:p>
        </p:txBody>
      </p:sp>
      <p:sp>
        <p:nvSpPr>
          <p:cNvPr id="6" name="Rectangle 5"/>
          <p:cNvSpPr/>
          <p:nvPr/>
        </p:nvSpPr>
        <p:spPr>
          <a:xfrm>
            <a:off x="0" y="1005840"/>
            <a:ext cx="12188952" cy="36576"/>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371600"/>
            <a:ext cx="5486400" cy="20116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371600"/>
            <a:ext cx="5486400"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572768"/>
            <a:ext cx="594360" cy="594360"/>
          </a:xfrm>
          <a:prstGeom prst="rect">
            <a:avLst/>
          </a:prstGeom>
          <a:noFill/>
        </p:spPr>
        <p:txBody>
          <a:bodyPr wrap="square">
            <a:spAutoFit/>
          </a:bodyPr>
          <a:lstStyle/>
          <a:p>
            <a:pPr algn="l"/>
            <a:r>
              <a:rPr sz="2800" b="0" i="0">
                <a:solidFill>
                  <a:srgbClr val="FFFFFF"/>
                </a:solidFill>
              </a:rPr>
              <a:t>🔗</a:t>
            </a:r>
          </a:p>
        </p:txBody>
      </p:sp>
      <p:sp>
        <p:nvSpPr>
          <p:cNvPr id="10" name="TextBox 9"/>
          <p:cNvSpPr txBox="1"/>
          <p:nvPr/>
        </p:nvSpPr>
        <p:spPr>
          <a:xfrm>
            <a:off x="1371600" y="1554480"/>
            <a:ext cx="4389120" cy="411480"/>
          </a:xfrm>
          <a:prstGeom prst="rect">
            <a:avLst/>
          </a:prstGeom>
          <a:noFill/>
        </p:spPr>
        <p:txBody>
          <a:bodyPr wrap="square">
            <a:spAutoFit/>
          </a:bodyPr>
          <a:lstStyle/>
          <a:p>
            <a:pPr algn="l"/>
            <a:r>
              <a:rPr sz="1400" b="1" i="0">
                <a:solidFill>
                  <a:srgbClr val="00D4FF"/>
                </a:solidFill>
              </a:rPr>
              <a:t>CVE Database Integration</a:t>
            </a:r>
          </a:p>
        </p:txBody>
      </p:sp>
      <p:sp>
        <p:nvSpPr>
          <p:cNvPr id="11" name="TextBox 10"/>
          <p:cNvSpPr txBox="1"/>
          <p:nvPr/>
        </p:nvSpPr>
        <p:spPr>
          <a:xfrm>
            <a:off x="640080" y="2176272"/>
            <a:ext cx="5120640" cy="1097280"/>
          </a:xfrm>
          <a:prstGeom prst="rect">
            <a:avLst/>
          </a:prstGeom>
          <a:noFill/>
        </p:spPr>
        <p:txBody>
          <a:bodyPr wrap="square">
            <a:spAutoFit/>
          </a:bodyPr>
          <a:lstStyle/>
          <a:p>
            <a:pPr algn="l"/>
            <a:r>
              <a:rPr sz="1100" b="0" i="0">
                <a:solidFill>
                  <a:srgbClr val="88AACC"/>
                </a:solidFill>
              </a:rPr>
              <a:t>Connect to NVD/CVE databases for real-time vulnerability lookup and automated risk scoring based on CVSS ratings</a:t>
            </a:r>
          </a:p>
        </p:txBody>
      </p:sp>
      <p:sp>
        <p:nvSpPr>
          <p:cNvPr id="12" name="Rectangle 11"/>
          <p:cNvSpPr/>
          <p:nvPr/>
        </p:nvSpPr>
        <p:spPr>
          <a:xfrm>
            <a:off x="6217920" y="1371600"/>
            <a:ext cx="5486400" cy="20116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1371600"/>
            <a:ext cx="5486400"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1572768"/>
            <a:ext cx="594360" cy="594360"/>
          </a:xfrm>
          <a:prstGeom prst="rect">
            <a:avLst/>
          </a:prstGeom>
          <a:noFill/>
        </p:spPr>
        <p:txBody>
          <a:bodyPr wrap="square">
            <a:spAutoFit/>
          </a:bodyPr>
          <a:lstStyle/>
          <a:p>
            <a:pPr algn="l"/>
            <a:r>
              <a:rPr sz="2800" b="0" i="0">
                <a:solidFill>
                  <a:srgbClr val="FFFFFF"/>
                </a:solidFill>
              </a:rPr>
              <a:t>🌐</a:t>
            </a:r>
          </a:p>
        </p:txBody>
      </p:sp>
      <p:sp>
        <p:nvSpPr>
          <p:cNvPr id="15" name="TextBox 14"/>
          <p:cNvSpPr txBox="1"/>
          <p:nvPr/>
        </p:nvSpPr>
        <p:spPr>
          <a:xfrm>
            <a:off x="7132320" y="1554480"/>
            <a:ext cx="4389120" cy="411480"/>
          </a:xfrm>
          <a:prstGeom prst="rect">
            <a:avLst/>
          </a:prstGeom>
          <a:noFill/>
        </p:spPr>
        <p:txBody>
          <a:bodyPr wrap="square">
            <a:spAutoFit/>
          </a:bodyPr>
          <a:lstStyle/>
          <a:p>
            <a:pPr algn="l"/>
            <a:r>
              <a:rPr sz="1400" b="1" i="0">
                <a:solidFill>
                  <a:srgbClr val="00D4FF"/>
                </a:solidFill>
              </a:rPr>
              <a:t>Web-Based Dashboard</a:t>
            </a:r>
          </a:p>
        </p:txBody>
      </p:sp>
      <p:sp>
        <p:nvSpPr>
          <p:cNvPr id="16" name="TextBox 15"/>
          <p:cNvSpPr txBox="1"/>
          <p:nvPr/>
        </p:nvSpPr>
        <p:spPr>
          <a:xfrm>
            <a:off x="6400800" y="2176272"/>
            <a:ext cx="5120640" cy="1097280"/>
          </a:xfrm>
          <a:prstGeom prst="rect">
            <a:avLst/>
          </a:prstGeom>
          <a:noFill/>
        </p:spPr>
        <p:txBody>
          <a:bodyPr wrap="square">
            <a:spAutoFit/>
          </a:bodyPr>
          <a:lstStyle/>
          <a:p>
            <a:pPr algn="l"/>
            <a:r>
              <a:rPr sz="1100" b="0" i="0">
                <a:solidFill>
                  <a:srgbClr val="88AACC"/>
                </a:solidFill>
              </a:rPr>
              <a:t>Build a browser-based reporting interface for visual analysis, trend monitoring, and historical comparison</a:t>
            </a:r>
          </a:p>
        </p:txBody>
      </p:sp>
      <p:sp>
        <p:nvSpPr>
          <p:cNvPr id="17" name="Rectangle 16"/>
          <p:cNvSpPr/>
          <p:nvPr/>
        </p:nvSpPr>
        <p:spPr>
          <a:xfrm>
            <a:off x="457200" y="3657600"/>
            <a:ext cx="5486400" cy="20116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57200" y="3657600"/>
            <a:ext cx="5486400"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858768"/>
            <a:ext cx="594360" cy="594360"/>
          </a:xfrm>
          <a:prstGeom prst="rect">
            <a:avLst/>
          </a:prstGeom>
          <a:noFill/>
        </p:spPr>
        <p:txBody>
          <a:bodyPr wrap="square">
            <a:spAutoFit/>
          </a:bodyPr>
          <a:lstStyle/>
          <a:p>
            <a:pPr algn="l"/>
            <a:r>
              <a:rPr sz="2800" b="0" i="0">
                <a:solidFill>
                  <a:srgbClr val="FFFFFF"/>
                </a:solidFill>
              </a:rPr>
              <a:t>🔔</a:t>
            </a:r>
          </a:p>
        </p:txBody>
      </p:sp>
      <p:sp>
        <p:nvSpPr>
          <p:cNvPr id="20" name="TextBox 19"/>
          <p:cNvSpPr txBox="1"/>
          <p:nvPr/>
        </p:nvSpPr>
        <p:spPr>
          <a:xfrm>
            <a:off x="1371600" y="3840480"/>
            <a:ext cx="4389120" cy="411480"/>
          </a:xfrm>
          <a:prstGeom prst="rect">
            <a:avLst/>
          </a:prstGeom>
          <a:noFill/>
        </p:spPr>
        <p:txBody>
          <a:bodyPr wrap="square">
            <a:spAutoFit/>
          </a:bodyPr>
          <a:lstStyle/>
          <a:p>
            <a:pPr algn="l"/>
            <a:r>
              <a:rPr sz="1400" b="1" i="0">
                <a:solidFill>
                  <a:srgbClr val="00D4FF"/>
                </a:solidFill>
              </a:rPr>
              <a:t>Real-Time Alerts</a:t>
            </a:r>
          </a:p>
        </p:txBody>
      </p:sp>
      <p:sp>
        <p:nvSpPr>
          <p:cNvPr id="21" name="TextBox 20"/>
          <p:cNvSpPr txBox="1"/>
          <p:nvPr/>
        </p:nvSpPr>
        <p:spPr>
          <a:xfrm>
            <a:off x="640080" y="4462272"/>
            <a:ext cx="5120640" cy="1097280"/>
          </a:xfrm>
          <a:prstGeom prst="rect">
            <a:avLst/>
          </a:prstGeom>
          <a:noFill/>
        </p:spPr>
        <p:txBody>
          <a:bodyPr wrap="square">
            <a:spAutoFit/>
          </a:bodyPr>
          <a:lstStyle/>
          <a:p>
            <a:pPr algn="l"/>
            <a:r>
              <a:rPr sz="1100" b="0" i="0">
                <a:solidFill>
                  <a:srgbClr val="88AACC"/>
                </a:solidFill>
              </a:rPr>
              <a:t>Implement live monitoring with instant notifications when new vulnerabilities or suspicious activity is detected</a:t>
            </a:r>
          </a:p>
        </p:txBody>
      </p:sp>
      <p:sp>
        <p:nvSpPr>
          <p:cNvPr id="22" name="Rectangle 21"/>
          <p:cNvSpPr/>
          <p:nvPr/>
        </p:nvSpPr>
        <p:spPr>
          <a:xfrm>
            <a:off x="6217920" y="3657600"/>
            <a:ext cx="5486400" cy="201168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3657600"/>
            <a:ext cx="5486400" cy="73152"/>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0" y="3858768"/>
            <a:ext cx="594360" cy="594360"/>
          </a:xfrm>
          <a:prstGeom prst="rect">
            <a:avLst/>
          </a:prstGeom>
          <a:noFill/>
        </p:spPr>
        <p:txBody>
          <a:bodyPr wrap="square">
            <a:spAutoFit/>
          </a:bodyPr>
          <a:lstStyle/>
          <a:p>
            <a:pPr algn="l"/>
            <a:r>
              <a:rPr sz="2800" b="0" i="0">
                <a:solidFill>
                  <a:srgbClr val="FFFFFF"/>
                </a:solidFill>
              </a:rPr>
              <a:t>🐧</a:t>
            </a:r>
          </a:p>
        </p:txBody>
      </p:sp>
      <p:sp>
        <p:nvSpPr>
          <p:cNvPr id="25" name="TextBox 24"/>
          <p:cNvSpPr txBox="1"/>
          <p:nvPr/>
        </p:nvSpPr>
        <p:spPr>
          <a:xfrm>
            <a:off x="7132320" y="3840480"/>
            <a:ext cx="4389120" cy="411480"/>
          </a:xfrm>
          <a:prstGeom prst="rect">
            <a:avLst/>
          </a:prstGeom>
          <a:noFill/>
        </p:spPr>
        <p:txBody>
          <a:bodyPr wrap="square">
            <a:spAutoFit/>
          </a:bodyPr>
          <a:lstStyle/>
          <a:p>
            <a:pPr algn="l"/>
            <a:r>
              <a:rPr sz="1400" b="1" i="0">
                <a:solidFill>
                  <a:srgbClr val="00D4FF"/>
                </a:solidFill>
              </a:rPr>
              <a:t>Multi-Distro Support</a:t>
            </a:r>
          </a:p>
        </p:txBody>
      </p:sp>
      <p:sp>
        <p:nvSpPr>
          <p:cNvPr id="26" name="TextBox 25"/>
          <p:cNvSpPr txBox="1"/>
          <p:nvPr/>
        </p:nvSpPr>
        <p:spPr>
          <a:xfrm>
            <a:off x="6400800" y="4462272"/>
            <a:ext cx="5120640" cy="1097280"/>
          </a:xfrm>
          <a:prstGeom prst="rect">
            <a:avLst/>
          </a:prstGeom>
          <a:noFill/>
        </p:spPr>
        <p:txBody>
          <a:bodyPr wrap="square">
            <a:spAutoFit/>
          </a:bodyPr>
          <a:lstStyle/>
          <a:p>
            <a:pPr algn="l"/>
            <a:r>
              <a:rPr sz="1100" b="0" i="0">
                <a:solidFill>
                  <a:srgbClr val="88AACC"/>
                </a:solidFill>
              </a:rPr>
              <a:t>Extend compatibility to Ubuntu, CentOS, Debian, Fedora, and other major Linux distributions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9144" cy="6858000"/>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800" y="0"/>
            <a:ext cx="9144" cy="6858000"/>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0" y="0"/>
            <a:ext cx="9144" cy="6858000"/>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0" y="0"/>
            <a:ext cx="9144" cy="6858000"/>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0" y="0"/>
            <a:ext cx="9144" cy="6858000"/>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0" y="0"/>
            <a:ext cx="9144" cy="6858000"/>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972800" y="0"/>
            <a:ext cx="9144" cy="6858000"/>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0"/>
            <a:ext cx="12188952" cy="9144"/>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1828800"/>
            <a:ext cx="12188952" cy="9144"/>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657600"/>
            <a:ext cx="12188952" cy="9144"/>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5486400"/>
            <a:ext cx="12188952" cy="9144"/>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0"/>
            <a:ext cx="12188952" cy="109728"/>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6748272"/>
            <a:ext cx="12188952" cy="109728"/>
          </a:xfrm>
          <a:prstGeom prst="rect">
            <a:avLst/>
          </a:prstGeom>
          <a:solidFill>
            <a:srgbClr val="00F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371600" y="731520"/>
            <a:ext cx="9418320" cy="539496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371600" y="731520"/>
            <a:ext cx="109728" cy="5394960"/>
          </a:xfrm>
          <a:prstGeom prst="rect">
            <a:avLst/>
          </a:prstGeom>
          <a:solidFill>
            <a:srgbClr val="00F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737360" y="914400"/>
            <a:ext cx="8961120" cy="685800"/>
          </a:xfrm>
          <a:prstGeom prst="rect">
            <a:avLst/>
          </a:prstGeom>
          <a:noFill/>
        </p:spPr>
        <p:txBody>
          <a:bodyPr wrap="square">
            <a:spAutoFit/>
          </a:bodyPr>
          <a:lstStyle/>
          <a:p>
            <a:pPr algn="l"/>
            <a:r>
              <a:rPr sz="3600" b="1" i="0">
                <a:solidFill>
                  <a:srgbClr val="FFFFFF"/>
                </a:solidFill>
              </a:rPr>
              <a:t>Conclusion</a:t>
            </a:r>
          </a:p>
        </p:txBody>
      </p:sp>
      <p:sp>
        <p:nvSpPr>
          <p:cNvPr id="18" name="Rectangle 17"/>
          <p:cNvSpPr/>
          <p:nvPr/>
        </p:nvSpPr>
        <p:spPr>
          <a:xfrm>
            <a:off x="1737360" y="1645920"/>
            <a:ext cx="8686800" cy="36576"/>
          </a:xfrm>
          <a:prstGeom prst="rect">
            <a:avLst/>
          </a:prstGeom>
          <a:solidFill>
            <a:srgbClr val="00F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37360" y="1810512"/>
            <a:ext cx="8686800" cy="566928"/>
          </a:xfrm>
          <a:prstGeom prst="rect">
            <a:avLst/>
          </a:prstGeom>
          <a:noFill/>
        </p:spPr>
        <p:txBody>
          <a:bodyPr wrap="square">
            <a:spAutoFit/>
          </a:bodyPr>
          <a:lstStyle/>
          <a:p>
            <a:pPr algn="l"/>
            <a:r>
              <a:rPr sz="1300" b="0" i="0">
                <a:solidFill>
                  <a:srgbClr val="CCDDEE"/>
                </a:solidFill>
              </a:rPr>
              <a:t>✅  Successfully developed an automated Linux privilege escalation detection toolkit</a:t>
            </a:r>
          </a:p>
        </p:txBody>
      </p:sp>
      <p:sp>
        <p:nvSpPr>
          <p:cNvPr id="20" name="TextBox 19"/>
          <p:cNvSpPr txBox="1"/>
          <p:nvPr/>
        </p:nvSpPr>
        <p:spPr>
          <a:xfrm>
            <a:off x="1737360" y="2468880"/>
            <a:ext cx="8686800" cy="566928"/>
          </a:xfrm>
          <a:prstGeom prst="rect">
            <a:avLst/>
          </a:prstGeom>
          <a:noFill/>
        </p:spPr>
        <p:txBody>
          <a:bodyPr wrap="square">
            <a:spAutoFit/>
          </a:bodyPr>
          <a:lstStyle/>
          <a:p>
            <a:pPr algn="l"/>
            <a:r>
              <a:rPr sz="1300" b="0" i="0">
                <a:solidFill>
                  <a:srgbClr val="CCDDEE"/>
                </a:solidFill>
              </a:rPr>
              <a:t>✅  Covers SUID binaries, cron jobs, sudo misconfigurations, and kernel vulnerabilities</a:t>
            </a:r>
          </a:p>
        </p:txBody>
      </p:sp>
      <p:sp>
        <p:nvSpPr>
          <p:cNvPr id="21" name="TextBox 20"/>
          <p:cNvSpPr txBox="1"/>
          <p:nvPr/>
        </p:nvSpPr>
        <p:spPr>
          <a:xfrm>
            <a:off x="1737360" y="3127248"/>
            <a:ext cx="8686800" cy="566928"/>
          </a:xfrm>
          <a:prstGeom prst="rect">
            <a:avLst/>
          </a:prstGeom>
          <a:noFill/>
        </p:spPr>
        <p:txBody>
          <a:bodyPr wrap="square">
            <a:spAutoFit/>
          </a:bodyPr>
          <a:lstStyle/>
          <a:p>
            <a:pPr algn="l"/>
            <a:r>
              <a:rPr sz="1300" b="0" i="0">
                <a:solidFill>
                  <a:srgbClr val="CCDDEE"/>
                </a:solidFill>
              </a:rPr>
              <a:t>✅  Generates structured security reports with actionable recommendations</a:t>
            </a:r>
          </a:p>
        </p:txBody>
      </p:sp>
      <p:sp>
        <p:nvSpPr>
          <p:cNvPr id="22" name="TextBox 21"/>
          <p:cNvSpPr txBox="1"/>
          <p:nvPr/>
        </p:nvSpPr>
        <p:spPr>
          <a:xfrm>
            <a:off x="1737360" y="3785616"/>
            <a:ext cx="8686800" cy="566928"/>
          </a:xfrm>
          <a:prstGeom prst="rect">
            <a:avLst/>
          </a:prstGeom>
          <a:noFill/>
        </p:spPr>
        <p:txBody>
          <a:bodyPr wrap="square">
            <a:spAutoFit/>
          </a:bodyPr>
          <a:lstStyle/>
          <a:p>
            <a:pPr algn="l"/>
            <a:r>
              <a:rPr sz="1300" b="0" i="0">
                <a:solidFill>
                  <a:srgbClr val="CCDDEE"/>
                </a:solidFill>
              </a:rPr>
              <a:t>✅  Tested safely in a controlled VMware virtual machine environment</a:t>
            </a:r>
          </a:p>
        </p:txBody>
      </p:sp>
      <p:sp>
        <p:nvSpPr>
          <p:cNvPr id="23" name="TextBox 22"/>
          <p:cNvSpPr txBox="1"/>
          <p:nvPr/>
        </p:nvSpPr>
        <p:spPr>
          <a:xfrm>
            <a:off x="1737360" y="4443983"/>
            <a:ext cx="8686800" cy="566928"/>
          </a:xfrm>
          <a:prstGeom prst="rect">
            <a:avLst/>
          </a:prstGeom>
          <a:noFill/>
        </p:spPr>
        <p:txBody>
          <a:bodyPr wrap="square">
            <a:spAutoFit/>
          </a:bodyPr>
          <a:lstStyle/>
          <a:p>
            <a:pPr algn="l"/>
            <a:r>
              <a:rPr sz="1300" b="0" i="0">
                <a:solidFill>
                  <a:srgbClr val="CCDDEE"/>
                </a:solidFill>
              </a:rPr>
              <a:t>✅  Provides valuable hands-on cybersecurity research experience</a:t>
            </a:r>
          </a:p>
        </p:txBody>
      </p:sp>
      <p:sp>
        <p:nvSpPr>
          <p:cNvPr id="24" name="TextBox 23"/>
          <p:cNvSpPr txBox="1"/>
          <p:nvPr/>
        </p:nvSpPr>
        <p:spPr>
          <a:xfrm>
            <a:off x="1737360" y="5138928"/>
            <a:ext cx="8686800" cy="502920"/>
          </a:xfrm>
          <a:prstGeom prst="rect">
            <a:avLst/>
          </a:prstGeom>
          <a:noFill/>
        </p:spPr>
        <p:txBody>
          <a:bodyPr wrap="square">
            <a:spAutoFit/>
          </a:bodyPr>
          <a:lstStyle/>
          <a:p>
            <a:pPr algn="l"/>
            <a:r>
              <a:rPr sz="1300" b="1" i="1">
                <a:solidFill>
                  <a:srgbClr val="00FFA3"/>
                </a:solidFill>
              </a:rPr>
              <a:t>This project demonstrates the power of automation in modern cybersecurity auditing.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9144" cy="6858000"/>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800" y="0"/>
            <a:ext cx="9144" cy="6858000"/>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0" y="0"/>
            <a:ext cx="9144" cy="6858000"/>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0" y="0"/>
            <a:ext cx="9144" cy="6858000"/>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0" y="0"/>
            <a:ext cx="9144" cy="6858000"/>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0" y="0"/>
            <a:ext cx="9144" cy="6858000"/>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0972800" y="0"/>
            <a:ext cx="9144" cy="6858000"/>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0"/>
            <a:ext cx="12188952" cy="9144"/>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1828800"/>
            <a:ext cx="12188952" cy="9144"/>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3657600"/>
            <a:ext cx="12188952" cy="9144"/>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0" y="5486400"/>
            <a:ext cx="12188952" cy="9144"/>
          </a:xfrm>
          <a:prstGeom prst="rect">
            <a:avLst/>
          </a:prstGeom>
          <a:solidFill>
            <a:srgbClr val="003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0" y="0"/>
            <a:ext cx="12188952" cy="109728"/>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0" y="6748272"/>
            <a:ext cx="12188952" cy="109728"/>
          </a:xfrm>
          <a:prstGeom prst="rect">
            <a:avLst/>
          </a:prstGeom>
          <a:solidFill>
            <a:srgbClr val="00FF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828800" y="1097280"/>
            <a:ext cx="8503920" cy="4663440"/>
          </a:xfrm>
          <a:prstGeom prst="rect">
            <a:avLst/>
          </a:prstGeom>
          <a:solidFill>
            <a:srgbClr val="1A2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0" y="1097280"/>
            <a:ext cx="8503920" cy="109728"/>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0" y="5650992"/>
            <a:ext cx="8503920" cy="109728"/>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0" y="1280160"/>
            <a:ext cx="1188720" cy="914400"/>
          </a:xfrm>
          <a:prstGeom prst="rect">
            <a:avLst/>
          </a:prstGeom>
          <a:noFill/>
        </p:spPr>
        <p:txBody>
          <a:bodyPr wrap="square">
            <a:spAutoFit/>
          </a:bodyPr>
          <a:lstStyle/>
          <a:p>
            <a:pPr algn="ctr"/>
            <a:r>
              <a:rPr sz="4200" b="0" i="0">
                <a:solidFill>
                  <a:srgbClr val="FFFFFF"/>
                </a:solidFill>
              </a:rPr>
              <a:t>🙏</a:t>
            </a:r>
          </a:p>
        </p:txBody>
      </p:sp>
      <p:sp>
        <p:nvSpPr>
          <p:cNvPr id="19" name="TextBox 18"/>
          <p:cNvSpPr txBox="1"/>
          <p:nvPr/>
        </p:nvSpPr>
        <p:spPr>
          <a:xfrm>
            <a:off x="2286000" y="2194560"/>
            <a:ext cx="7589520" cy="1097280"/>
          </a:xfrm>
          <a:prstGeom prst="rect">
            <a:avLst/>
          </a:prstGeom>
          <a:noFill/>
        </p:spPr>
        <p:txBody>
          <a:bodyPr wrap="square">
            <a:spAutoFit/>
          </a:bodyPr>
          <a:lstStyle/>
          <a:p>
            <a:pPr algn="ctr"/>
            <a:r>
              <a:rPr sz="5400" b="1" i="0">
                <a:solidFill>
                  <a:srgbClr val="FFFFFF"/>
                </a:solidFill>
              </a:rPr>
              <a:t>Thank You!</a:t>
            </a:r>
          </a:p>
        </p:txBody>
      </p:sp>
      <p:sp>
        <p:nvSpPr>
          <p:cNvPr id="20" name="Rectangle 19"/>
          <p:cNvSpPr/>
          <p:nvPr/>
        </p:nvSpPr>
        <p:spPr>
          <a:xfrm>
            <a:off x="3840480" y="3337560"/>
            <a:ext cx="4480560" cy="54864"/>
          </a:xfrm>
          <a:prstGeom prst="rect">
            <a:avLst/>
          </a:prstGeom>
          <a:solidFill>
            <a:srgbClr val="00D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286000" y="3474720"/>
            <a:ext cx="7589520" cy="594360"/>
          </a:xfrm>
          <a:prstGeom prst="rect">
            <a:avLst/>
          </a:prstGeom>
          <a:noFill/>
        </p:spPr>
        <p:txBody>
          <a:bodyPr wrap="square">
            <a:spAutoFit/>
          </a:bodyPr>
          <a:lstStyle/>
          <a:p>
            <a:pPr algn="ctr"/>
            <a:r>
              <a:rPr sz="2200" b="0" i="1">
                <a:solidFill>
                  <a:srgbClr val="00FFA3"/>
                </a:solidFill>
              </a:rPr>
              <a:t>Any Questions?</a:t>
            </a:r>
          </a:p>
        </p:txBody>
      </p:sp>
      <p:sp>
        <p:nvSpPr>
          <p:cNvPr id="22" name="TextBox 21"/>
          <p:cNvSpPr txBox="1"/>
          <p:nvPr/>
        </p:nvSpPr>
        <p:spPr>
          <a:xfrm>
            <a:off x="2286000" y="4251960"/>
            <a:ext cx="7589520" cy="457200"/>
          </a:xfrm>
          <a:prstGeom prst="rect">
            <a:avLst/>
          </a:prstGeom>
          <a:noFill/>
        </p:spPr>
        <p:txBody>
          <a:bodyPr wrap="square">
            <a:spAutoFit/>
          </a:bodyPr>
          <a:lstStyle/>
          <a:p>
            <a:pPr algn="ctr"/>
            <a:r>
              <a:rPr sz="1400" b="0" i="0">
                <a:solidFill>
                  <a:srgbClr val="88AACC"/>
                </a:solidFill>
              </a:rPr>
              <a:t>Ravi  |  MCA  |  Unified Mentor  |  2026</a:t>
            </a:r>
          </a:p>
        </p:txBody>
      </p:sp>
      <p:sp>
        <p:nvSpPr>
          <p:cNvPr id="23" name="TextBox 22"/>
          <p:cNvSpPr txBox="1"/>
          <p:nvPr/>
        </p:nvSpPr>
        <p:spPr>
          <a:xfrm>
            <a:off x="2286000" y="4754880"/>
            <a:ext cx="7589520" cy="457200"/>
          </a:xfrm>
          <a:prstGeom prst="rect">
            <a:avLst/>
          </a:prstGeom>
          <a:noFill/>
        </p:spPr>
        <p:txBody>
          <a:bodyPr wrap="square">
            <a:spAutoFit/>
          </a:bodyPr>
          <a:lstStyle/>
          <a:p>
            <a:pPr algn="ctr"/>
            <a:r>
              <a:rPr sz="1300" b="1" i="0">
                <a:solidFill>
                  <a:srgbClr val="00D4FF"/>
                </a:solidFill>
              </a:rPr>
              <a:t>Linux Privilege Escalation Automation Toolkit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